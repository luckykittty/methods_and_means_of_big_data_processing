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sz="3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Домашнее задание №2</a:t>
            </a:r>
            <a:endParaRPr sz="3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buNone/>
              <a:defRPr/>
            </a:pPr>
            <a:r>
              <a:rPr sz="24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Выполнила: Качалина Екатерина, МСМТ243</a:t>
            </a:r>
            <a:endParaRPr sz="24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287403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505080" y="2951280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7200" b="1"/>
              <a:t>Часть 1</a:t>
            </a:r>
            <a:endParaRPr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87728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63908" y="36449"/>
            <a:ext cx="2725662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2600" b="1"/>
              <a:t>Анализ 3 песен</a:t>
            </a:r>
            <a:endParaRPr sz="2600" b="1"/>
          </a:p>
        </p:txBody>
      </p:sp>
      <p:sp>
        <p:nvSpPr>
          <p:cNvPr id="1812513823" name=""/>
          <p:cNvSpPr txBox="1"/>
          <p:nvPr/>
        </p:nvSpPr>
        <p:spPr bwMode="auto">
          <a:xfrm flipH="0" flipV="0">
            <a:off x="135102" y="1032149"/>
            <a:ext cx="402690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600" b="1"/>
              <a:t>Кино, Звезда по имени солнце</a:t>
            </a:r>
            <a:endParaRPr sz="1600" b="1"/>
          </a:p>
          <a:p>
            <a:pPr algn="l">
              <a:defRPr/>
            </a:pPr>
            <a:r>
              <a:rPr lang="ru-RU" sz="1600" b="1" i="0" u="none" strike="noStrike" cap="none" spc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ДДТ, Что такое осень </a:t>
            </a:r>
            <a:endParaRPr sz="1600" b="1"/>
          </a:p>
          <a:p>
            <a:pPr algn="l">
              <a:defRPr/>
            </a:pPr>
            <a:r>
              <a:rPr sz="1600" b="1"/>
              <a:t>КИШ, Кукла Колдуна</a:t>
            </a:r>
            <a:endParaRPr sz="1600" b="1"/>
          </a:p>
        </p:txBody>
      </p:sp>
      <p:sp>
        <p:nvSpPr>
          <p:cNvPr id="1752588025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203987" y="2132588"/>
            <a:ext cx="9142920" cy="182708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Так как песни – русские, то для лемматизации будем использовать </a:t>
            </a:r>
            <a:r>
              <a:rPr lang="ru-RU" sz="1600" b="0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morph = pymorphy2.MorphAnalyzer()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indent="0" algn="l">
              <a:buNone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Вся обработка: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Удаление лишних пробелов, других символов табуляции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Приведение всех слов к строчному формату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Лемматизация – приведение слов в нормальную форму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Удаление стоп-слов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pic>
        <p:nvPicPr>
          <p:cNvPr id="174747654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03987" y="3858066"/>
            <a:ext cx="10084405" cy="2948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9962599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428630" y="1142999"/>
            <a:ext cx="8231669" cy="5696838"/>
          </a:xfrm>
          <a:prstGeom prst="rect">
            <a:avLst/>
          </a:prstGeom>
        </p:spPr>
      </p:pic>
      <p:sp>
        <p:nvSpPr>
          <p:cNvPr id="439709119" name="PlaceHolder 1"/>
          <p:cNvSpPr>
            <a:spLocks noGrp="1"/>
          </p:cNvSpPr>
          <p:nvPr/>
        </p:nvSpPr>
        <p:spPr bwMode="auto">
          <a:xfrm flipH="0" flipV="0">
            <a:off x="761880" y="9377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sz="1800" b="1"/>
              <a:t>TF-IDF: результаты</a:t>
            </a:r>
            <a:endParaRPr sz="1800" b="1"/>
          </a:p>
          <a:p>
            <a:pPr>
              <a:defRPr/>
            </a:pPr>
            <a:r>
              <a:rPr lang="ru-RU" sz="1800" b="0" i="0" u="none" strike="noStrike" cap="none" spc="0">
                <a:solidFill>
                  <a:srgbClr val="34343C"/>
                </a:solidFill>
                <a:latin typeface="Liberation Sans"/>
                <a:ea typeface="Liberation Sans"/>
                <a:cs typeface="Liberation Sans"/>
              </a:rPr>
              <a:t>WordCloud – облако слов, размер слова зависит от метрики TF-IDF</a:t>
            </a:r>
            <a:endParaRPr sz="18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95256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1282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800" b="1"/>
              <a:t>TF-IDF: результаты</a:t>
            </a:r>
            <a:endParaRPr sz="1800" b="1"/>
          </a:p>
        </p:txBody>
      </p:sp>
      <p:pic>
        <p:nvPicPr>
          <p:cNvPr id="42419354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6657" y="2544535"/>
            <a:ext cx="5953427" cy="3658224"/>
          </a:xfrm>
          <a:prstGeom prst="rect">
            <a:avLst/>
          </a:prstGeom>
        </p:spPr>
      </p:pic>
      <p:pic>
        <p:nvPicPr>
          <p:cNvPr id="1317020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42633" y="2544535"/>
            <a:ext cx="5855535" cy="3562566"/>
          </a:xfrm>
          <a:prstGeom prst="rect">
            <a:avLst/>
          </a:prstGeom>
        </p:spPr>
      </p:pic>
      <p:sp>
        <p:nvSpPr>
          <p:cNvPr id="207029186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80" y="1052070"/>
            <a:ext cx="10972079" cy="1405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100"/>
              <a:t>В Топ самыз частых слов входят слова, которые являются наиболее частыми для конкретной песни, что логично для алгоритма TF-IDF:</a:t>
            </a:r>
            <a:endParaRPr sz="1100"/>
          </a:p>
          <a:p>
            <a:pPr marL="195764" indent="-195764">
              <a:buFont typeface="Arial"/>
              <a:buChar char="–"/>
              <a:defRPr/>
            </a:pPr>
            <a:r>
              <a:rPr sz="1100"/>
              <a:t>Осень для песни ДДТ</a:t>
            </a:r>
            <a:endParaRPr sz="1100"/>
          </a:p>
          <a:p>
            <a:pPr marL="195764" indent="-195764">
              <a:buFont typeface="Arial"/>
              <a:buChar char="–"/>
              <a:defRPr/>
            </a:pPr>
            <a:r>
              <a:rPr sz="1100"/>
              <a:t>Звезда для песни Кино</a:t>
            </a:r>
            <a:endParaRPr sz="1100"/>
          </a:p>
          <a:p>
            <a:pPr marL="195764" indent="-195764">
              <a:buFont typeface="Arial"/>
              <a:buChar char="–"/>
              <a:defRPr/>
            </a:pPr>
            <a:r>
              <a:rPr sz="1100"/>
              <a:t>Имя для песни Кино</a:t>
            </a:r>
            <a:endParaRPr sz="1100"/>
          </a:p>
          <a:p>
            <a:pPr>
              <a:defRPr/>
            </a:pPr>
            <a:r>
              <a:rPr sz="1100"/>
              <a:t>И тд</a:t>
            </a:r>
            <a:endParaRPr sz="1100"/>
          </a:p>
          <a:p>
            <a:pPr>
              <a:defRPr/>
            </a:pPr>
            <a:r>
              <a:rPr sz="1100"/>
              <a:t>В топ-10 самых редких слов входят слова, которая встречаются 1 раз в какой-то из песен</a:t>
            </a:r>
            <a:endParaRPr sz="1100"/>
          </a:p>
          <a:p>
            <a:pPr marL="195764" indent="-195764">
              <a:buFont typeface="Arial"/>
              <a:buChar char="–"/>
              <a:defRPr/>
            </a:pPr>
            <a:endParaRPr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719236" name="PlaceHolder 1"/>
          <p:cNvSpPr>
            <a:spLocks noGrp="1"/>
          </p:cNvSpPr>
          <p:nvPr/>
        </p:nvSpPr>
        <p:spPr bwMode="auto">
          <a:xfrm flipH="0" flipV="0">
            <a:off x="761880" y="9377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CountVectorizer</a:t>
            </a:r>
            <a:r>
              <a:rPr sz="1800" b="1"/>
              <a:t>: результаты</a:t>
            </a:r>
            <a:endParaRPr sz="1800" b="1"/>
          </a:p>
          <a:p>
            <a:pPr>
              <a:defRPr/>
            </a:pPr>
            <a:r>
              <a:rPr sz="1150" b="0" i="0" u="none">
                <a:solidFill>
                  <a:srgbClr val="34343C"/>
                </a:solidFill>
                <a:latin typeface="Liberation Sans"/>
                <a:ea typeface="Liberation Sans"/>
                <a:cs typeface="Liberation Sans"/>
              </a:rPr>
              <a:t>WordCloud – облако слов, размер слова зависит от частоты встречаемости в тексте</a:t>
            </a:r>
            <a:endParaRPr sz="1800" b="1"/>
          </a:p>
        </p:txBody>
      </p:sp>
      <p:pic>
        <p:nvPicPr>
          <p:cNvPr id="24155137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490346" y="1031875"/>
            <a:ext cx="8320986" cy="5555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82800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1282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ru-RU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CountVectorizer</a:t>
            </a:r>
            <a:r>
              <a:rPr sz="1800" b="1"/>
              <a:t>: результаты</a:t>
            </a:r>
            <a:endParaRPr sz="1800" b="1"/>
          </a:p>
        </p:txBody>
      </p:sp>
      <p:sp>
        <p:nvSpPr>
          <p:cNvPr id="683850603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80" y="1052070"/>
            <a:ext cx="10972079" cy="1405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100"/>
              <a:t>В Топ самых частых слов входят слова, которые повторяются наибольшее кол-во раз </a:t>
            </a:r>
            <a:r>
              <a:rPr sz="1100" b="1"/>
              <a:t>во всем тексте: </a:t>
            </a:r>
            <a:r>
              <a:rPr sz="1100" b="0"/>
              <a:t>например, слово земля не входила в ТОП-10 слов для TF-IDF, так как находится в трех текстах, но для </a:t>
            </a:r>
            <a:r>
              <a:rPr lang="ru-RU" sz="11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CountVectorizer</a:t>
            </a:r>
            <a:r>
              <a:rPr sz="1100" b="0"/>
              <a:t> – это слово 3 по встречаемости</a:t>
            </a:r>
            <a:endParaRPr sz="1100" b="0"/>
          </a:p>
        </p:txBody>
      </p:sp>
      <p:pic>
        <p:nvPicPr>
          <p:cNvPr id="75016172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22352" y="2598618"/>
            <a:ext cx="5692672" cy="3454399"/>
          </a:xfrm>
          <a:prstGeom prst="rect">
            <a:avLst/>
          </a:prstGeom>
        </p:spPr>
      </p:pic>
      <p:pic>
        <p:nvPicPr>
          <p:cNvPr id="2716538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64250" y="2656796"/>
            <a:ext cx="5334000" cy="33587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425365" name="PlaceHolder 1"/>
          <p:cNvSpPr>
            <a:spLocks noGrp="1"/>
          </p:cNvSpPr>
          <p:nvPr/>
        </p:nvSpPr>
        <p:spPr bwMode="auto">
          <a:xfrm flipH="0" flipV="0">
            <a:off x="761880" y="9377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Word2Vec</a:t>
            </a:r>
            <a:r>
              <a:rPr sz="1800" b="1"/>
              <a:t>: результаты</a:t>
            </a:r>
            <a:endParaRPr sz="1800" b="1"/>
          </a:p>
        </p:txBody>
      </p:sp>
      <p:pic>
        <p:nvPicPr>
          <p:cNvPr id="183730596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44499" y="916885"/>
            <a:ext cx="8382000" cy="56804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12739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1282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ru-RU" sz="18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Word2Vec</a:t>
            </a:r>
            <a:r>
              <a:rPr lang="ru-RU" sz="1800" b="1" i="0" u="none" strike="noStrike" cap="none" spc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: результаты</a:t>
            </a:r>
            <a:endParaRPr sz="1800" b="1"/>
          </a:p>
          <a:p>
            <a:pPr>
              <a:defRPr/>
            </a:pPr>
            <a:endParaRPr/>
          </a:p>
        </p:txBody>
      </p:sp>
      <p:sp>
        <p:nvSpPr>
          <p:cNvPr id="209156920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80" y="1052070"/>
            <a:ext cx="10972079" cy="1405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100"/>
              <a:t>Для Word2Vec визуализация частотности слов будет совпадать с CountVectorizer, так как алгоритм </a:t>
            </a:r>
            <a:r>
              <a:rPr lang="ru-RU" sz="1100" b="0" i="0" u="none" strike="noStrike" cap="none" spc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Word2Vec </a:t>
            </a:r>
            <a:r>
              <a:rPr sz="1100"/>
              <a:t>завязан </a:t>
            </a:r>
            <a:r>
              <a:rPr lang="ru-RU" sz="1100" b="0" i="0" u="none" strike="noStrike" cap="none" spc="0">
                <a:solidFill>
                  <a:srgbClr val="000000"/>
                </a:solidFill>
                <a:latin typeface="Arial"/>
                <a:ea typeface="DejaVu Sans"/>
                <a:cs typeface="DejaVu Sans"/>
              </a:rPr>
              <a:t>не </a:t>
            </a:r>
            <a:r>
              <a:rPr sz="1100"/>
              <a:t>на частотность слов, а на семантику (их ликсическую взаимосвязь)</a:t>
            </a:r>
            <a:endParaRPr sz="1100"/>
          </a:p>
          <a:p>
            <a:pPr>
              <a:defRPr/>
            </a:pPr>
            <a:r>
              <a:rPr sz="1100"/>
              <a:t>Интерпретация графика 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t-SNE</a:t>
            </a:r>
            <a:r>
              <a:rPr sz="1100"/>
              <a:t> – карта смысловых взаимосвязей</a:t>
            </a:r>
            <a:endParaRPr sz="1100"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Близко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= слова похожи по смыслу (используются в похожих контекстах)</a:t>
            </a:r>
            <a:endParaRPr/>
          </a:p>
          <a:p>
            <a:pPr>
              <a:defRPr/>
            </a:pPr>
            <a:r>
              <a:rPr sz="12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Далеко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2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= слова разные по смыслу</a:t>
            </a:r>
            <a:endParaRPr sz="1100"/>
          </a:p>
          <a:p>
            <a:pPr>
              <a:defRPr/>
            </a:pPr>
            <a:r>
              <a:rPr sz="1100"/>
              <a:t>Например, красный и кровь – находятся рядом, так как в тексте употребляются вместе («Красная, красная кровь...», Кино Звезда по имени солнце)</a:t>
            </a:r>
            <a:endParaRPr sz="1100" b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725876" name="PlaceHolder 1"/>
          <p:cNvSpPr>
            <a:spLocks noGrp="1"/>
          </p:cNvSpPr>
          <p:nvPr/>
        </p:nvSpPr>
        <p:spPr bwMode="auto">
          <a:xfrm flipH="0" flipV="0">
            <a:off x="761880" y="93779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r>
              <a:rPr sz="1800" b="1"/>
              <a:t>Сравнение </a:t>
            </a:r>
            <a:endParaRPr sz="1800" b="1"/>
          </a:p>
        </p:txBody>
      </p:sp>
      <p:sp>
        <p:nvSpPr>
          <p:cNvPr id="1453479774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79" y="956819"/>
            <a:ext cx="4821719" cy="458255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4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CountVectorizer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продемонстрировал наилучшую интерпретируемость за счет прямого отображения частотности слов, однако требует предварительной фильтрации стоп-слов. Скорость работы максимальна благодаря линейной сложности алгоритма.</a:t>
            </a:r>
            <a:endParaRPr sz="1100"/>
          </a:p>
          <a:p>
            <a:pPr>
              <a:defRPr/>
            </a:pPr>
            <a:r>
              <a:rPr sz="14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TF-IDF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эффективно решает проблему стоп-слов, автоматически понижая вес частотных слов, но не учитывает семантические отношения между лексемами, что приводит к ортогональности векторов-синонимов.</a:t>
            </a:r>
            <a:endParaRPr sz="1100"/>
          </a:p>
          <a:p>
            <a:pPr>
              <a:defRPr/>
            </a:pPr>
            <a:r>
              <a:rPr sz="14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Word2Vec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4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показал способность моделировать семантическую близость, однако качество сильно зависит от объема корпуса. На малом объеме данных (3 документа) некоторые смысловые связи могут быть неочевидны. Вычислительная сложность ожидаемо выше из-за итеративного обучения нейросети.</a:t>
            </a:r>
            <a:endParaRPr sz="1400"/>
          </a:p>
        </p:txBody>
      </p:sp>
      <p:pic>
        <p:nvPicPr>
          <p:cNvPr id="15433684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431199" y="956819"/>
            <a:ext cx="6494100" cy="47472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963965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3505080" y="2951280"/>
            <a:ext cx="9142920" cy="11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7200" b="1"/>
              <a:t>Часть 2</a:t>
            </a:r>
            <a:endParaRPr sz="7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46305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31879"/>
            <a:ext cx="9142920" cy="12587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800" b="1"/>
              <a:t>Предобработка датасета</a:t>
            </a:r>
            <a:endParaRPr sz="1800" b="1"/>
          </a:p>
        </p:txBody>
      </p:sp>
      <p:sp>
        <p:nvSpPr>
          <p:cNvPr id="369561542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80" y="1604519"/>
            <a:ext cx="10972079" cy="4834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l"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Датасет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IMDB Dataset.csv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, содержащий 50,000 отзывов к фильмам с метками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positive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/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negative</a:t>
            </a:r>
            <a:endParaRPr sz="1600" b="0" i="0" u="none" strike="noStrike" cap="none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1600" b="0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Обработка текста: </a:t>
            </a:r>
            <a:endParaRPr sz="1600" b="0" i="0" u="none" strike="noStrike" cap="none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lang="ru-RU" sz="1600" b="0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Удаление лишних пробелов, других символов табуляции</a:t>
            </a:r>
            <a:endParaRPr sz="1600" b="0" i="0" u="none" strike="noStrike" cap="none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lang="ru-RU" sz="1600" b="0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Приведение всех слов к строчному формату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lang="ru-RU" sz="1600" b="0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Лемматизация – приведение слов в нормальную форму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marL="349965" indent="-349965" algn="l">
              <a:buFont typeface="Arial"/>
              <a:buChar char="–"/>
              <a:defRPr/>
            </a:pPr>
            <a:r>
              <a:rPr lang="ru-RU" sz="1600" b="0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Удаление стоп-слов</a:t>
            </a:r>
            <a:endParaRPr sz="1600" b="0" i="0" u="none" strike="noStrike" cap="none" spc="-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Метки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positive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negative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преобразуются в числовой формат: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positive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→ 1,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negative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→ 0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Данные разделяются в соотношении 70% на 30% с помощью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train_test_split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6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Токенезация</a:t>
            </a:r>
            <a:b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Загружаем предобученный токенизатор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bert-base-uncased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 Токенизатор разбивает текст на токены (слова или их части) и преобразует их в числовые идентификаторы (input_ids).</a:t>
            </a:r>
            <a:endParaRPr sz="16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Создадим функция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preprocessing_for_bert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, которая: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Для каждого предложения добавляет специальные токены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[CLS]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(в начало) 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[SEP]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(в конец).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Усекает или дополняет (padding) предложения до максимальной длины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MAX_LEN = 128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Возвращает два тензора: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input_ids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(сами идентификаторы токенов) 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attention_masks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(маску внимания, указывающую модели, на какие токены нужно обращать внимание, а на какие (дополненные) нет).</a:t>
            </a:r>
            <a:endParaRPr sz="1600"/>
          </a:p>
          <a:p>
            <a:pPr marL="261850" indent="-261850" algn="l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Функция применяется к тренировочным (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x_train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и тестовым (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x_test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данным</a:t>
            </a:r>
            <a:b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187459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31879"/>
            <a:ext cx="9142920" cy="12587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DataLoader</a:t>
            </a:r>
            <a:r>
              <a:rPr sz="1800" b="1"/>
              <a:t> и модель классификации BERT</a:t>
            </a:r>
            <a:endParaRPr sz="1800" b="1"/>
          </a:p>
        </p:txBody>
      </p:sp>
      <p:sp>
        <p:nvSpPr>
          <p:cNvPr id="14084902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80" y="1604519"/>
            <a:ext cx="10972079" cy="48343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Метки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y_train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и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y_test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преобразуются в тензоры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torch.LongTensor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Создаются объекты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TensorDataset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для объединения входных данных, масок и меток.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Создаются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DataLoader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для тренировочной и тестовой выборок с размером батча (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batch_size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равным 16. DataLoader будет подавать данные в модель небольшими порциями во время обучения и оценки.</a:t>
            </a:r>
            <a:endParaRPr sz="1600"/>
          </a:p>
          <a:p>
            <a:pPr>
              <a:defRPr/>
            </a:pPr>
            <a:endParaRPr sz="16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Создадим класс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BertClassifier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, наследующий от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nn.Module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В конструкторе (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__init__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):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Загружается предобученная модель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BertModel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Определяется дополнительный классификатор (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self.classifier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— простая нейросеть из двух полносвязных слоев (768 → 50 → 2). Она будет преобразовывать выход BERT в вероятности двух классов (негатив/позитив).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Есть опция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freeze_bert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, позволяющая "заморозить" веса BERT и обучать только классификатор (здесь она не используется).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В методе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forward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: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Входные данные (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input_ids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,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attention_mask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передаются в BERT.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Из выхода BERT извлекается скрытое состояние, соответствующее специальному токену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[CLS]</a:t>
            </a: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 BERT обучается агрегировать информацию всего предложения в этом токене.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Это состояние передается в классификатор, который возвращает итоговые логиты (сырые оценки) для двух классов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62179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31879"/>
            <a:ext cx="9142920" cy="12587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Метрики модели</a:t>
            </a:r>
            <a:endParaRPr sz="1800" b="1"/>
          </a:p>
        </p:txBody>
      </p:sp>
      <p:sp>
        <p:nvSpPr>
          <p:cNvPr id="1080676686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533280" y="1390649"/>
            <a:ext cx="10972079" cy="110058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600"/>
              <a:t>Рассмотрим основные </a:t>
            </a:r>
            <a:endParaRPr sz="1600"/>
          </a:p>
          <a:p>
            <a:pPr>
              <a:defRPr/>
            </a:pPr>
            <a:r>
              <a:rPr sz="1600"/>
              <a:t>метрики классификации: 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/>
              <a:t>Accuracy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/>
              <a:t>Presicion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/>
              <a:t>Recall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/>
              <a:t>F1 – score</a:t>
            </a:r>
            <a:endParaRPr sz="1600"/>
          </a:p>
          <a:p>
            <a:pPr marL="261850" indent="-261850">
              <a:buFont typeface="Arial"/>
              <a:buChar char="–"/>
              <a:defRPr/>
            </a:pPr>
            <a:r>
              <a:rPr sz="1600"/>
              <a:t>ROC-AUC кривая</a:t>
            </a:r>
            <a:endParaRPr sz="1600"/>
          </a:p>
        </p:txBody>
      </p:sp>
      <p:pic>
        <p:nvPicPr>
          <p:cNvPr id="100920339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883559" y="914400"/>
            <a:ext cx="9117940" cy="5076824"/>
          </a:xfrm>
          <a:prstGeom prst="rect">
            <a:avLst/>
          </a:prstGeom>
        </p:spPr>
      </p:pic>
      <p:pic>
        <p:nvPicPr>
          <p:cNvPr id="490071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1000" y="3028950"/>
            <a:ext cx="2574607" cy="9715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18324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131879"/>
            <a:ext cx="9142920" cy="12587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Метрики модели</a:t>
            </a:r>
            <a:r>
              <a:rPr sz="1800" b="1"/>
              <a:t>: выводы</a:t>
            </a:r>
            <a:endParaRPr sz="1800" b="1"/>
          </a:p>
        </p:txBody>
      </p:sp>
      <p:sp>
        <p:nvSpPr>
          <p:cNvPr id="395173512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533280" y="1504948"/>
            <a:ext cx="10972079" cy="449580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Модель BERT, дообученная на датасете IMDB, продемонстрировала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хорошие и сбалансированные результаты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.</a:t>
            </a:r>
            <a:endParaRPr sz="14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Сбалансированность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: Метрики Precision (</a:t>
            </a: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0.8353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), Recall (</a:t>
            </a: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0.8298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и F1-score (</a:t>
            </a: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0.8325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) практически идентичны. Это идеальный показатель, означающий, что модель не имеет систематической ошибки в сторону одного из классов и одинаково хорошо решает обе подзадачи: минимизацию ложных срабатываний и максимизацию обнаружения истинных примеров.</a:t>
            </a:r>
            <a:endParaRPr sz="14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Хорошая точность (Accuracy 83.11%)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и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отличная разделяющая способность (AUC 0.91)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подтверждают, что модель будет эффективна при работе с новыми, незнакомыми данными.</a:t>
            </a:r>
            <a:endParaRPr sz="14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Визуализация ROC-кривой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наглядно демонстрирует высокое качество модели, так как она стремится к левому верхнему углу графика.</a:t>
            </a:r>
            <a:endParaRPr sz="1400"/>
          </a:p>
          <a:p>
            <a:pPr>
              <a:defRPr/>
            </a:pPr>
            <a:r>
              <a:rPr sz="18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Итог: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Модель ннеплохая</a:t>
            </a:r>
            <a:r>
              <a:rPr sz="1800" b="0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  <a:t>, но есть над чем работать и улучшать. Можно, например, настроить гиперпараметры (скорость обучения, размер батча и тд) или увеличить максимальную длину последовательности (AS IS 128, TO BE 256 или 512, я пробовала увеличить до 256, но обучение шло логично дольше и у меня вылетел Colab). Также еще может помочь анализ датасета: комментарии – это субъективно, модель может не понимать сарказм. </a:t>
            </a:r>
            <a:endParaRPr sz="1800" b="0" i="0" u="none">
              <a:solidFill>
                <a:srgbClr val="0F1115"/>
              </a:solidFill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Екатерина Качалина</cp:lastModifiedBy>
  <cp:revision>4</cp:revision>
  <dcterms:created xsi:type="dcterms:W3CDTF">2023-08-25T13:22:51Z</dcterms:created>
  <dcterms:modified xsi:type="dcterms:W3CDTF">2026-03-01T21:46:33Z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