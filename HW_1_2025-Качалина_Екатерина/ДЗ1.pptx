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9" r:id="rId20"/>
    <p:sldId id="274" r:id="rId21"/>
    <p:sldId id="275" r:id="rId22"/>
    <p:sldId id="276" r:id="rId23"/>
    <p:sldId id="277" r:id="rId24"/>
    <p:sldId id="280" r:id="rId25"/>
    <p:sldId id="287" r:id="rId26"/>
    <p:sldId id="281" r:id="rId27"/>
    <p:sldId id="286" r:id="rId28"/>
    <p:sldId id="285" r:id="rId29"/>
    <p:sldId id="282" r:id="rId30"/>
    <p:sldId id="284" r:id="rId31"/>
    <p:sldId id="283" r:id="rId32"/>
    <p:sldId id="288" r:id="rId33"/>
    <p:sldId id="289" r:id="rId34"/>
    <p:sldId id="290" r:id="rId35"/>
    <p:sldId id="291" r:id="rId36"/>
    <p:sldId id="292" r:id="rId37"/>
    <p:sldId id="299" r:id="rId38"/>
    <p:sldId id="278" r:id="rId39"/>
    <p:sldId id="293" r:id="rId40"/>
    <p:sldId id="294" r:id="rId41"/>
    <p:sldId id="295" r:id="rId42"/>
    <p:sldId id="296" r:id="rId43"/>
    <p:sldId id="297" r:id="rId44"/>
    <p:sldId id="298" r:id="rId4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75" d="100"/>
          <a:sy n="75" d="100"/>
        </p:scale>
        <p:origin x="883" y="5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CCE16C-FDE6-4FDB-AEBA-897CBEE7A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0ACE900-1D6B-4121-8239-E4D4BA7AB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3EA702-82BB-424C-A7DF-9C87009D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FB8467-41F2-4064-8608-CF94CF015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92CC81-8146-4BB1-AE54-081722C8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1480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0682D-2701-45B8-80E3-5FD691164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EB0AE5-5962-4C63-8C24-59E23571A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D723744-3811-4384-8B11-B740FCEB6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E10F737-6EDC-4340-B502-3FD82A24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FC519F-5CC8-4BA4-868E-1E8E8CB3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4591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F860C2-BAFB-4D56-945B-8544BA3DA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B9A2925-E0A6-49CB-BF5C-81BA87C9C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85A38EC-2AED-4449-B84F-8B55BF652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62F836-42EF-4724-82AF-E1AFF7AFA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F1C6A2-30D5-4867-9076-C60B460AF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665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C11E7F-8398-40DE-89C8-49C416138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0669AE-97BF-48BA-A1ED-0DF38EE553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AF2FE1-C9D0-4F72-B09B-6321257CE6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DA19E5-9A07-47A4-A5A7-2E33D29C3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F44D943-79F9-4E8A-9E2D-066E3113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E7C656-488F-4727-8F4C-75E340DE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11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FF936-ED3A-4AF8-9B6B-9CE2D438C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5BBE14-645C-4794-A97C-18040A6A5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E42D1F-587B-45BD-910D-E3A109E72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3332591-0D11-4560-8953-D13889DA37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6548A0-094F-4F30-A428-5A20DC61C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8F702A-B301-4277-8608-61A18B44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D0F5490-6D6B-4DBB-A7D8-1279169D3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BE2452-AB58-4653-ACC6-1F0FCE8D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97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3C2611-B0B7-4A7D-BAD7-77CAF1B69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820BBB9-342A-4FB6-B2A0-247FD18C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D96E6C-C325-4488-B9DE-A64498FD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DAB9437-92EA-456C-8760-2E6D5754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15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831A5AF-8008-411F-A172-E805A496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60667D3-79B4-497B-8A3A-6DFE90C0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5CE25B6-8D24-4590-B6AD-249CE977F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5668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5464E-D139-40F0-8D7C-B1D448EAE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0F27FE-4650-450F-8897-53D56E55B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61CA6B-D763-41BA-8C61-9E0CB0F22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20369B-F9D1-4AB9-9F68-5B4D3FDF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CCF26B-D4E8-4DAC-86F2-F0DF6155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0E880F8-1920-4985-8853-3D1F0815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468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2FFD2-B36E-49C4-8D82-1C51D52BD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560AC08-C1F9-4EAA-8831-03E544FC0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EBA902-3F4E-4179-AD91-C7E164F1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D885D0-7C59-4E6A-A1BF-19EF7D5D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6D8C58-5E9B-44E2-9B28-2C5AE73DE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C19E93-2BE8-4412-99B0-51A4F8A0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19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116BA-3574-4469-B13D-D0999C697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7801FD-9C6C-4724-936D-2104F58E0A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17D7B3-2AD9-4F46-A6BF-7FD4C4206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FC0EED-7145-4362-AC8C-940C3C1E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FA0D777-B5FB-462A-9EE3-49AC003CB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AD3FFC-8DB9-42E4-9729-480A505B5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74F8355-F989-4AA5-B720-90430147B6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155BA6-E3F0-48CC-8307-7661C374D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82B484-5632-4957-BF17-747B0508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513E70-A9D0-4182-9D56-9DBD5648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693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393279-3E69-460F-9F9D-01948608B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97FE2F-388C-48AF-8809-38635E61B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24CAB0-BBF9-4A3E-87B3-ECB26BBE7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18EC5-1A73-411A-817F-B2985568381E}" type="datetimeFigureOut">
              <a:rPr lang="ru-RU" smtClean="0"/>
              <a:t>30.12.2025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82AFA8-CB1C-4A74-86BB-686782D1A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BF1B94-F847-40BA-8B5A-C39C0642C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076D8-3A22-4BF8-9F54-7B4A545F14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297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com/@ktoprakucar/how-to-calculate-the-correlation-between-categorical-and-continuous-values-dcb7abf79406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056762-53BC-4286-8BE0-6295777345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Домашнее задание №1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E4E053-B309-49C0-A053-FE56EE2CCE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Выполнила: Качалина Екатерина, МСМТ243</a:t>
            </a:r>
          </a:p>
        </p:txBody>
      </p:sp>
    </p:spTree>
    <p:extLst>
      <p:ext uri="{BB962C8B-B14F-4D97-AF65-F5344CB8AC3E}">
        <p14:creationId xmlns:p14="http://schemas.microsoft.com/office/powerpoint/2010/main" val="593102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>
              <a:buAutoNum type="arabicPeriod"/>
            </a:pPr>
            <a:r>
              <a:rPr lang="ru-RU" i="0" dirty="0">
                <a:effectLst/>
                <a:latin typeface="-apple-system"/>
              </a:rPr>
              <a:t>Исследование данных и обработка данных для проведения последующей сегментации</a:t>
            </a:r>
          </a:p>
          <a:p>
            <a:pPr marL="514350" indent="-514350" algn="l">
              <a:buAutoNum type="arabicPeriod"/>
            </a:pPr>
            <a:r>
              <a:rPr lang="ru-RU" i="0" dirty="0">
                <a:effectLst/>
                <a:latin typeface="-apple-system"/>
              </a:rPr>
              <a:t>Сделать 2 метода сегментации</a:t>
            </a:r>
            <a:endParaRPr lang="ru-RU" dirty="0">
              <a:latin typeface="-apple-system"/>
            </a:endParaRPr>
          </a:p>
          <a:p>
            <a:pPr marL="514350" indent="-514350" algn="l">
              <a:buAutoNum type="arabicPeriod"/>
            </a:pPr>
            <a:r>
              <a:rPr lang="ru-RU" i="0" dirty="0">
                <a:effectLst/>
                <a:latin typeface="-apple-system"/>
              </a:rPr>
              <a:t>Провести оценку по определению количества кластеров</a:t>
            </a:r>
          </a:p>
          <a:p>
            <a:pPr marL="514350" indent="-514350" algn="l">
              <a:buAutoNum type="arabicPeriod"/>
            </a:pPr>
            <a:r>
              <a:rPr lang="ru-RU" i="0" dirty="0">
                <a:effectLst/>
                <a:latin typeface="-apple-system"/>
              </a:rPr>
              <a:t>Составить профили клиентов на основе 2 методов сегментации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9667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41" y="2400659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-apple-system"/>
              </a:rPr>
              <a:t>Задача 1: </a:t>
            </a:r>
            <a:r>
              <a:rPr lang="ru-RU" b="1" i="0" dirty="0">
                <a:effectLst/>
                <a:latin typeface="-apple-system"/>
              </a:rPr>
              <a:t>Исследование и обработка данных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8350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459FA5-7FFB-43C6-9699-972D3BE83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Данные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D0D66D1-81C2-4919-8325-33FC37FF32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3676496"/>
              </p:ext>
            </p:extLst>
          </p:nvPr>
        </p:nvGraphicFramePr>
        <p:xfrm>
          <a:off x="838200" y="1878955"/>
          <a:ext cx="6152985" cy="4471290"/>
        </p:xfrm>
        <a:graphic>
          <a:graphicData uri="http://schemas.openxmlformats.org/drawingml/2006/table">
            <a:tbl>
              <a:tblPr/>
              <a:tblGrid>
                <a:gridCol w="974657">
                  <a:extLst>
                    <a:ext uri="{9D8B030D-6E8A-4147-A177-3AD203B41FA5}">
                      <a16:colId xmlns:a16="http://schemas.microsoft.com/office/drawing/2014/main" val="1515194322"/>
                    </a:ext>
                  </a:extLst>
                </a:gridCol>
                <a:gridCol w="3139734">
                  <a:extLst>
                    <a:ext uri="{9D8B030D-6E8A-4147-A177-3AD203B41FA5}">
                      <a16:colId xmlns:a16="http://schemas.microsoft.com/office/drawing/2014/main" val="2757612455"/>
                    </a:ext>
                  </a:extLst>
                </a:gridCol>
                <a:gridCol w="2038594">
                  <a:extLst>
                    <a:ext uri="{9D8B030D-6E8A-4147-A177-3AD203B41FA5}">
                      <a16:colId xmlns:a16="http://schemas.microsoft.com/office/drawing/2014/main" val="3043107064"/>
                    </a:ext>
                  </a:extLst>
                </a:gridCol>
              </a:tblGrid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Атрибуты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Описание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Тип признака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0456115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Номер варианта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Номер варианта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166015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Идентификатор клиента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3152105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INCOME_BASE_TYPE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Подтверждение дохода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04011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CREDIT_PURPOSE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Цель получения кредита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82848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INSURANCE_FLAG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Страхование заемщика при получении кредита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016210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DTI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debt-to-income ratio — отношение долга к доходам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66494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SEX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Пол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5736706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FULL_AGE_CHILD_NUMBER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лет ребенку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60012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DEPENDANT_NUMBER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иждивенцев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73077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EDUCATION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Образование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51600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EMPL_TYPE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Должность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477360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EMPL_SIZE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Зарплата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785943"/>
                  </a:ext>
                </a:extLst>
              </a:tr>
              <a:tr h="18516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BANKACCOUNT_FLAG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аккаунтов у клиента. ( 0 - нет онлайн -кабинета , 1 - есть один онлайн-кабинет, 2 и более - заходил в онлайн кабинет с другого устройства )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97597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Period_at_work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Время работы (кол-во дней)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19110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age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Возраст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9283478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EMPL_PROPERTY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Сфера бизнеса работодателя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22198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EMPL_FORM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Организационно - правовая форма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27853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FAMILY_STATUS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Семейный статус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903272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max90days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запросов в бюро кредитных историй за последние 90 дней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07685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max60days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запросов в бюро кредитных историй за последние 60 дней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5708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max30days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запросов в бюро кредитных историй за последние 30 дней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61402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max21days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запросов в бюро кредитных историй за последние 21 дней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406588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max14days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запросов в бюро кредитных историй за последние 14 дней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96636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avg_num_delay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Среднее кол-во задержки оплаты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9800182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if_zalog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Наличие залога (квартира,машина)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9806896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num_AccountActive180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активных счетов счетов за последние 180 дней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710022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num_AccountActive90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активных счетов счетов за последние 90 дней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0218562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num_AccountActive60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активных счетов счетов за последние 60 дней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56600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Active_to_All_prc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отношение активных счетов ко всем счетам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04609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numAccountActiveAll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открытых счетоа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763587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numAccountClosed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закрытых счетов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29870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sum_of_paym_months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сумма платежей за последний месяц (тыс.)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555168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all_credits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кредитов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12269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Active_not_cc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Активные кредитные счета, но не кредитная карта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75877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own_closed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закрытых кредитов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780376"/>
                  </a:ext>
                </a:extLst>
              </a:tr>
              <a:tr h="185163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min_MnthAfterLoan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минимальное кол-во месяцев, которое прошло с момета взятия прошлого кредита, то есть как давно выдали последний кредит клиенту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398204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max_MnthAfterLoan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кол-во месяцев прошеднее с момента выдачи первого кредита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364816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dlq_exist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наличие просрочки на данный момент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6754726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thirty_in_a_year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просрочка больше 30 дней за последний год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1762877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sixty_in_a_year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просрочка больше 60 дней за последний год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4158671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ninety_in_a_year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просрочка больше 90 дней за последний год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384053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thirty_vintage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просрочка больше 30 дней, когда-либо 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574569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sixty_vintage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просрочка больше 60 дней, когда-либо 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823698"/>
                  </a:ext>
                </a:extLst>
              </a:tr>
              <a:tr h="92582">
                <a:tc>
                  <a:txBody>
                    <a:bodyPr/>
                    <a:lstStyle/>
                    <a:p>
                      <a:pPr algn="l" fontAlgn="b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ninety_vintage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просрочка больше 90 дней, когда-либо 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3858" marR="3858" marT="38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42086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D18BA2-8243-4ADF-971D-A2ADDE06DACA}"/>
              </a:ext>
            </a:extLst>
          </p:cNvPr>
          <p:cNvSpPr txBox="1"/>
          <p:nvPr/>
        </p:nvSpPr>
        <p:spPr>
          <a:xfrm>
            <a:off x="6991185" y="1694289"/>
            <a:ext cx="47964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0" dirty="0">
                <a:effectLst/>
                <a:latin typeface="-apple-system"/>
              </a:rPr>
              <a:t>Всего 42 признака (без учета номера варианта и </a:t>
            </a:r>
            <a:r>
              <a:rPr lang="en-US" i="0" dirty="0">
                <a:effectLst/>
                <a:latin typeface="-apple-system"/>
              </a:rPr>
              <a:t>ID)</a:t>
            </a:r>
          </a:p>
          <a:p>
            <a:r>
              <a:rPr lang="ru-RU" i="0" dirty="0">
                <a:effectLst/>
                <a:latin typeface="-apple-system"/>
              </a:rPr>
              <a:t>Разбивка по типу</a:t>
            </a:r>
            <a:r>
              <a:rPr lang="ru-RU" dirty="0">
                <a:latin typeface="-apple-system"/>
              </a:rPr>
              <a:t> признака:</a:t>
            </a:r>
            <a:endParaRPr lang="en-US" i="0" dirty="0">
              <a:effectLst/>
              <a:latin typeface="-apple-system"/>
            </a:endParaRPr>
          </a:p>
          <a:p>
            <a:endParaRPr lang="ru-RU" dirty="0"/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36204F25-A8AE-462B-B20A-3B904797C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000991"/>
              </p:ext>
            </p:extLst>
          </p:nvPr>
        </p:nvGraphicFramePr>
        <p:xfrm>
          <a:off x="7078649" y="2711738"/>
          <a:ext cx="3124200" cy="381000"/>
        </p:xfrm>
        <a:graphic>
          <a:graphicData uri="http://schemas.openxmlformats.org/drawingml/2006/table">
            <a:tbl>
              <a:tblPr/>
              <a:tblGrid>
                <a:gridCol w="1168400">
                  <a:extLst>
                    <a:ext uri="{9D8B030D-6E8A-4147-A177-3AD203B41FA5}">
                      <a16:colId xmlns:a16="http://schemas.microsoft.com/office/drawing/2014/main" val="678721624"/>
                    </a:ext>
                  </a:extLst>
                </a:gridCol>
                <a:gridCol w="1955800">
                  <a:extLst>
                    <a:ext uri="{9D8B030D-6E8A-4147-A177-3AD203B41FA5}">
                      <a16:colId xmlns:a16="http://schemas.microsoft.com/office/drawing/2014/main" val="187413715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категориальный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02953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количественный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497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236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511" y="94781"/>
            <a:ext cx="10515600" cy="1325563"/>
          </a:xfrm>
        </p:spPr>
        <p:txBody>
          <a:bodyPr/>
          <a:lstStyle/>
          <a:p>
            <a:r>
              <a:rPr lang="ru-RU" b="1" dirty="0"/>
              <a:t>Исследование данных на пропущенные значения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272BF8-86ED-4135-9F77-FF0BE43CF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511" y="1690688"/>
            <a:ext cx="4568788" cy="48615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428755-81AA-440C-8E17-D1EA288F224E}"/>
              </a:ext>
            </a:extLst>
          </p:cNvPr>
          <p:cNvSpPr txBox="1"/>
          <p:nvPr/>
        </p:nvSpPr>
        <p:spPr>
          <a:xfrm>
            <a:off x="5265752" y="1690688"/>
            <a:ext cx="6094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i="0" dirty="0">
                <a:effectLst/>
                <a:latin typeface="-apple-system"/>
              </a:rPr>
              <a:t>Есть большое количество пропусков (63,3%) в части столбцов, а также 22,5% и 60,3%. Причем все пропуски  - это одно множество (63,3%), а 22,5% и 60,3% - часть этого множества 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CD0F37-D8EA-4B8D-AB79-FF7A1F0D5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614" y="2891017"/>
            <a:ext cx="5788950" cy="20995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1C50FAF-0B29-47D3-860D-2389B4379BBB}"/>
              </a:ext>
            </a:extLst>
          </p:cNvPr>
          <p:cNvSpPr txBox="1"/>
          <p:nvPr/>
        </p:nvSpPr>
        <p:spPr>
          <a:xfrm>
            <a:off x="5353217" y="4990531"/>
            <a:ext cx="6094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</a:t>
            </a:r>
            <a:r>
              <a:rPr lang="en-US" dirty="0"/>
              <a:t>&gt; </a:t>
            </a:r>
            <a:r>
              <a:rPr lang="ru-RU" dirty="0"/>
              <a:t>Удалим пропуски. Скорее всего клиенты с пропусками - это клиенты без кредитной истории, новые клиенты банка </a:t>
            </a:r>
          </a:p>
        </p:txBody>
      </p:sp>
    </p:spTree>
    <p:extLst>
      <p:ext uri="{BB962C8B-B14F-4D97-AF65-F5344CB8AC3E}">
        <p14:creationId xmlns:p14="http://schemas.microsoft.com/office/powerpoint/2010/main" val="393241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6B57241-284C-4D0A-928A-160E966FE75F}"/>
              </a:ext>
            </a:extLst>
          </p:cNvPr>
          <p:cNvSpPr txBox="1">
            <a:spLocks/>
          </p:cNvSpPr>
          <p:nvPr/>
        </p:nvSpPr>
        <p:spPr>
          <a:xfrm>
            <a:off x="743683" y="2538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Исследование данных на пропущенные значения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A704B3D-0B25-4A8F-9B05-8BB8156C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8" y="1486894"/>
            <a:ext cx="4727192" cy="4949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62E7D5-2DA6-47C6-9D94-DCA9686CB154}"/>
              </a:ext>
            </a:extLst>
          </p:cNvPr>
          <p:cNvSpPr txBox="1"/>
          <p:nvPr/>
        </p:nvSpPr>
        <p:spPr>
          <a:xfrm>
            <a:off x="5387150" y="1364735"/>
            <a:ext cx="60946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Данные после удаления пропусков</a:t>
            </a:r>
          </a:p>
          <a:p>
            <a:r>
              <a:rPr lang="ru-RU" dirty="0"/>
              <a:t>Осталось незначительное кол-во пропусков в столбце </a:t>
            </a:r>
            <a:r>
              <a:rPr lang="en-US" dirty="0" err="1"/>
              <a:t>avg_num_delay</a:t>
            </a:r>
            <a:r>
              <a:rPr lang="en-US" dirty="0"/>
              <a:t> –&gt; </a:t>
            </a:r>
            <a:r>
              <a:rPr lang="ru-RU" dirty="0"/>
              <a:t>их тоже удалим</a:t>
            </a:r>
          </a:p>
          <a:p>
            <a:r>
              <a:rPr lang="ru-RU" dirty="0"/>
              <a:t>После всех преобразований получим </a:t>
            </a:r>
            <a:r>
              <a:rPr lang="ru-RU" dirty="0" err="1"/>
              <a:t>датасет</a:t>
            </a:r>
            <a:r>
              <a:rPr lang="ru-RU" dirty="0"/>
              <a:t> с 3745 строк</a:t>
            </a:r>
          </a:p>
        </p:txBody>
      </p:sp>
    </p:spTree>
    <p:extLst>
      <p:ext uri="{BB962C8B-B14F-4D97-AF65-F5344CB8AC3E}">
        <p14:creationId xmlns:p14="http://schemas.microsoft.com/office/powerpoint/2010/main" val="2646667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Чистка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197" y="1825623"/>
            <a:ext cx="4966252" cy="4392295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u-RU" sz="2400" dirty="0"/>
              <a:t>Видно, что в столбце, который отвечает за образование, есть схожие название. Объединим их</a:t>
            </a:r>
          </a:p>
          <a:p>
            <a:pPr>
              <a:buFontTx/>
              <a:buChar char="-"/>
            </a:pPr>
            <a:r>
              <a:rPr lang="ru-RU" sz="2400" dirty="0"/>
              <a:t>Аналогично сделаем для статуса семьи</a:t>
            </a:r>
            <a:endParaRPr lang="en-US" sz="2400" dirty="0"/>
          </a:p>
          <a:p>
            <a:pPr>
              <a:buFontTx/>
              <a:buChar char="-"/>
            </a:pPr>
            <a:r>
              <a:rPr lang="ru-RU" sz="2400" dirty="0"/>
              <a:t>Также удалим в столбцах </a:t>
            </a:r>
            <a:r>
              <a:rPr lang="en-US" sz="2400" dirty="0"/>
              <a:t>'EMPL_SIZE', 'EDUCATION’</a:t>
            </a:r>
            <a:r>
              <a:rPr lang="ru-RU" sz="2400" dirty="0"/>
              <a:t> пустые значение, записанные как </a:t>
            </a:r>
            <a:r>
              <a:rPr lang="en-US" sz="2400" dirty="0" err="1"/>
              <a:t>n.a.</a:t>
            </a:r>
            <a:endParaRPr lang="en-US" sz="2400" dirty="0"/>
          </a:p>
          <a:p>
            <a:pPr>
              <a:buFontTx/>
              <a:buChar char="-"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-&gt; </a:t>
            </a:r>
            <a:r>
              <a:rPr lang="ru-RU" sz="2400" dirty="0"/>
              <a:t>всего 3733 строки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4E681C0-8F2F-4078-9B26-567280FEA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712" y="4021771"/>
            <a:ext cx="3286584" cy="19338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C677DE1-A790-44D3-9C92-8848F38C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8449" y="1105106"/>
            <a:ext cx="3115110" cy="24673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BE6DCBE-E263-4CEB-9F9E-E5E0B44D2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6312" y="1447116"/>
            <a:ext cx="3105583" cy="1476581"/>
          </a:xfrm>
          <a:prstGeom prst="rect">
            <a:avLst/>
          </a:prstGeom>
        </p:spPr>
      </p:pic>
      <p:sp>
        <p:nvSpPr>
          <p:cNvPr id="10" name="Стрелка: вправо 9">
            <a:extLst>
              <a:ext uri="{FF2B5EF4-FFF2-40B4-BE49-F238E27FC236}">
                <a16:creationId xmlns:a16="http://schemas.microsoft.com/office/drawing/2014/main" id="{372D16DE-01DE-470B-87AA-52B24220DA3C}"/>
              </a:ext>
            </a:extLst>
          </p:cNvPr>
          <p:cNvSpPr/>
          <p:nvPr/>
        </p:nvSpPr>
        <p:spPr>
          <a:xfrm>
            <a:off x="8532176" y="2089990"/>
            <a:ext cx="435520" cy="1908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610125B-8396-4D12-B681-ACA5C6692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7696" y="4101284"/>
            <a:ext cx="3124636" cy="1390844"/>
          </a:xfrm>
          <a:prstGeom prst="rect">
            <a:avLst/>
          </a:prstGeom>
        </p:spPr>
      </p:pic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FCFDDFF6-7C63-4546-AC8B-9C48F2822F16}"/>
              </a:ext>
            </a:extLst>
          </p:cNvPr>
          <p:cNvSpPr/>
          <p:nvPr/>
        </p:nvSpPr>
        <p:spPr>
          <a:xfrm>
            <a:off x="8679296" y="4893277"/>
            <a:ext cx="435520" cy="1908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4730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Распределение категориальных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07475A-7187-499F-97A0-2A9BFD156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3" y="907885"/>
            <a:ext cx="8714628" cy="28425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74950AC-AC22-4DFB-91EB-FF9299A5FAD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009"/>
          <a:stretch/>
        </p:blipFill>
        <p:spPr>
          <a:xfrm>
            <a:off x="381129" y="3750398"/>
            <a:ext cx="5626400" cy="29452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682CBF-A58F-4542-B710-7F73FC2652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6952"/>
          <a:stretch/>
        </p:blipFill>
        <p:spPr>
          <a:xfrm>
            <a:off x="8905461" y="907885"/>
            <a:ext cx="2772351" cy="294178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380FF1-00B3-4180-872D-27A9ED7D344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r="32338"/>
          <a:stretch/>
        </p:blipFill>
        <p:spPr>
          <a:xfrm>
            <a:off x="5979285" y="3750398"/>
            <a:ext cx="5698527" cy="2842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7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07" y="134537"/>
            <a:ext cx="10515600" cy="1325563"/>
          </a:xfrm>
        </p:spPr>
        <p:txBody>
          <a:bodyPr/>
          <a:lstStyle/>
          <a:p>
            <a:r>
              <a:rPr lang="ru-RU" b="1" dirty="0"/>
              <a:t>Распределение категориальных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7C9395-EEEB-407D-AE14-AB6C66E265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501" r="-1"/>
          <a:stretch/>
        </p:blipFill>
        <p:spPr>
          <a:xfrm>
            <a:off x="461175" y="997837"/>
            <a:ext cx="2838616" cy="29479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327D06-19B1-4920-AC9A-6823F76EB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646" y="1053612"/>
            <a:ext cx="8441179" cy="29479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FD9C1FE-E4C6-4A90-9BEE-2906DF846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21" y="4001512"/>
            <a:ext cx="7975644" cy="277828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55ACF3A-AFE8-41FE-B54A-14237F5EBE6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6348"/>
          <a:stretch/>
        </p:blipFill>
        <p:spPr>
          <a:xfrm>
            <a:off x="8905460" y="4098721"/>
            <a:ext cx="2721821" cy="268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651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099" y="110683"/>
            <a:ext cx="10515600" cy="1325563"/>
          </a:xfrm>
        </p:spPr>
        <p:txBody>
          <a:bodyPr/>
          <a:lstStyle/>
          <a:p>
            <a:r>
              <a:rPr lang="ru-RU" b="1" dirty="0"/>
              <a:t>Распределение категориальных признаков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0C9BED6-C50D-48D9-BAAB-A381F9AB02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48"/>
          <a:stretch/>
        </p:blipFill>
        <p:spPr>
          <a:xfrm>
            <a:off x="417066" y="1105078"/>
            <a:ext cx="5678934" cy="284567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973FF2-498F-4181-A93C-D6CFD1F4C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25" y="4009559"/>
            <a:ext cx="2881308" cy="28484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71A5EB-0CE3-447C-937E-7227538A6222}"/>
              </a:ext>
            </a:extLst>
          </p:cNvPr>
          <p:cNvSpPr txBox="1"/>
          <p:nvPr/>
        </p:nvSpPr>
        <p:spPr>
          <a:xfrm>
            <a:off x="5983513" y="1411596"/>
            <a:ext cx="609467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Выводы:</a:t>
            </a:r>
          </a:p>
          <a:p>
            <a:pPr marL="285750" indent="-285750">
              <a:buFontTx/>
              <a:buChar char="-"/>
            </a:pPr>
            <a:r>
              <a:rPr lang="ru-RU" dirty="0"/>
              <a:t>Есть большой дисбаланс признаков: 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Тип организации – почти все ООО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Образование – у большинства клиентов высшее образование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Кол-во аккаунтов у клиента: у большинства нет онлайн-кабинета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Мало клиентов (меньше 10%) имеют просрочка 30-90 дней за год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3% и менее имеет просрочку 30-90 дней когда-либо</a:t>
            </a:r>
          </a:p>
          <a:p>
            <a:pPr marL="285750" indent="-285750">
              <a:buFontTx/>
              <a:buChar char="-"/>
            </a:pPr>
            <a:r>
              <a:rPr lang="ru-RU" dirty="0"/>
              <a:t>Основная причина кредита – ремонт</a:t>
            </a:r>
          </a:p>
          <a:p>
            <a:pPr marL="285750" indent="-285750">
              <a:buFontTx/>
              <a:buChar char="-"/>
            </a:pPr>
            <a:r>
              <a:rPr lang="ru-RU" dirty="0"/>
              <a:t>После удаление пропусков для столбца Доход </a:t>
            </a:r>
            <a:r>
              <a:rPr lang="ru-RU" dirty="0" err="1"/>
              <a:t>осталовь</a:t>
            </a:r>
            <a:r>
              <a:rPr lang="ru-RU" dirty="0"/>
              <a:t> всего два значения: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Менее 50</a:t>
            </a:r>
          </a:p>
          <a:p>
            <a:pPr marL="742950" lvl="1" indent="-285750">
              <a:buFontTx/>
              <a:buChar char="-"/>
            </a:pPr>
            <a:r>
              <a:rPr lang="ru-RU" dirty="0"/>
              <a:t>Более 250</a:t>
            </a:r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7270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647" y="0"/>
            <a:ext cx="10515600" cy="1325563"/>
          </a:xfrm>
        </p:spPr>
        <p:txBody>
          <a:bodyPr/>
          <a:lstStyle/>
          <a:p>
            <a:r>
              <a:rPr lang="ru-RU" b="1" dirty="0"/>
              <a:t>Распределение количественных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57AB0C-BC1E-4D70-9FDA-181686061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28" y="962106"/>
            <a:ext cx="9256429" cy="57604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13F8A8-88BF-4672-A238-D737EB200C3B}"/>
              </a:ext>
            </a:extLst>
          </p:cNvPr>
          <p:cNvSpPr txBox="1"/>
          <p:nvPr/>
        </p:nvSpPr>
        <p:spPr>
          <a:xfrm>
            <a:off x="9422296" y="1214764"/>
            <a:ext cx="26253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признака Кол-во иждивенцев почти все значения – 0 -</a:t>
            </a:r>
            <a:r>
              <a:rPr lang="en-US" dirty="0"/>
              <a:t>&gt; </a:t>
            </a:r>
            <a:r>
              <a:rPr lang="ru-RU" dirty="0"/>
              <a:t>уберем его из выборки, так как он не будет играть никакой роли при сегментации</a:t>
            </a:r>
          </a:p>
        </p:txBody>
      </p:sp>
    </p:spTree>
    <p:extLst>
      <p:ext uri="{BB962C8B-B14F-4D97-AF65-F5344CB8AC3E}">
        <p14:creationId xmlns:p14="http://schemas.microsoft.com/office/powerpoint/2010/main" val="698559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b="1" dirty="0"/>
              <a:t>Распределение количественных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FD269C-1A35-4817-A7F3-566F5C7C9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5" y="1061501"/>
            <a:ext cx="9137606" cy="5691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91A6F3-40FA-43BD-A497-A2352BCE4F29}"/>
              </a:ext>
            </a:extLst>
          </p:cNvPr>
          <p:cNvSpPr txBox="1"/>
          <p:nvPr/>
        </p:nvSpPr>
        <p:spPr>
          <a:xfrm>
            <a:off x="9566675" y="1254521"/>
            <a:ext cx="26253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признаков Кол-во обращений в бюро кредитных историй за Х дней наиболее ожидаемое значение 0, а также эти признаки будут коррелировать между собой –</a:t>
            </a:r>
            <a:r>
              <a:rPr lang="en-US" dirty="0"/>
              <a:t>&gt; </a:t>
            </a:r>
            <a:r>
              <a:rPr lang="ru-RU" dirty="0"/>
              <a:t>далее оставим 1 из признаков </a:t>
            </a:r>
          </a:p>
        </p:txBody>
      </p:sp>
    </p:spTree>
    <p:extLst>
      <p:ext uri="{BB962C8B-B14F-4D97-AF65-F5344CB8AC3E}">
        <p14:creationId xmlns:p14="http://schemas.microsoft.com/office/powerpoint/2010/main" val="807189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125" y="0"/>
            <a:ext cx="10515600" cy="1325563"/>
          </a:xfrm>
        </p:spPr>
        <p:txBody>
          <a:bodyPr/>
          <a:lstStyle/>
          <a:p>
            <a:r>
              <a:rPr lang="ru-RU" b="1" dirty="0"/>
              <a:t>Распределение количественных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36DC4C-1043-4BA4-9B6C-AD635EEEB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4" y="1192023"/>
            <a:ext cx="8989924" cy="55467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19C276-C2C9-4EB9-B689-B5B5B8B6601F}"/>
              </a:ext>
            </a:extLst>
          </p:cNvPr>
          <p:cNvSpPr txBox="1"/>
          <p:nvPr/>
        </p:nvSpPr>
        <p:spPr>
          <a:xfrm>
            <a:off x="9415600" y="1325563"/>
            <a:ext cx="26253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Для признаков Кол-во активных счетов за Х дней наиболее ожидаемое значение 0, а также эти признаки будут коррелировать между собой –</a:t>
            </a:r>
            <a:r>
              <a:rPr lang="en-US" dirty="0"/>
              <a:t>&gt; </a:t>
            </a:r>
            <a:r>
              <a:rPr lang="ru-RU" dirty="0"/>
              <a:t>далее оставим 1 из признаков </a:t>
            </a:r>
          </a:p>
        </p:txBody>
      </p:sp>
    </p:spTree>
    <p:extLst>
      <p:ext uri="{BB962C8B-B14F-4D97-AF65-F5344CB8AC3E}">
        <p14:creationId xmlns:p14="http://schemas.microsoft.com/office/powerpoint/2010/main" val="421427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765"/>
            <a:ext cx="10515600" cy="1325563"/>
          </a:xfrm>
        </p:spPr>
        <p:txBody>
          <a:bodyPr/>
          <a:lstStyle/>
          <a:p>
            <a:r>
              <a:rPr lang="ru-RU" b="1" dirty="0"/>
              <a:t>Распределение количественных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E8D67D9-A226-4DA7-ABB6-7F23E3A2D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59" y="1100367"/>
            <a:ext cx="9008828" cy="558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49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051"/>
            <a:ext cx="10515600" cy="1325563"/>
          </a:xfrm>
        </p:spPr>
        <p:txBody>
          <a:bodyPr/>
          <a:lstStyle/>
          <a:p>
            <a:r>
              <a:rPr lang="ru-RU" b="1" dirty="0"/>
              <a:t>Матрица корреляций для количественных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A68577-F06B-47B5-ABCD-0425C812D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52" y="1478943"/>
            <a:ext cx="6383587" cy="5327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9B8974-8ACA-4305-A9E3-9F6CC29D9EA0}"/>
              </a:ext>
            </a:extLst>
          </p:cNvPr>
          <p:cNvSpPr txBox="1"/>
          <p:nvPr/>
        </p:nvSpPr>
        <p:spPr>
          <a:xfrm>
            <a:off x="6871915" y="1170282"/>
            <a:ext cx="508640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Высокая корреляция (выше 0,7) наблюдается: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Между всеми парами признаков кол-во запросов в бюро кредитных историй за последние Х дней -</a:t>
            </a:r>
            <a:r>
              <a:rPr lang="en-US" dirty="0"/>
              <a:t>&gt; </a:t>
            </a:r>
            <a:r>
              <a:rPr lang="ru-RU" dirty="0"/>
              <a:t>оставим только один из них - для 60 дней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Между Сумма платежей за последний </a:t>
            </a:r>
            <a:r>
              <a:rPr lang="ru-RU" dirty="0" err="1"/>
              <a:t>мес</a:t>
            </a:r>
            <a:r>
              <a:rPr lang="ru-RU" dirty="0"/>
              <a:t> и Кол-во кредитов (0,79), что достаточно логично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Между кол-во закрытых счетов и Кол-вом кредитов (0,92)</a:t>
            </a:r>
          </a:p>
          <a:p>
            <a:pPr marL="285750" indent="-285750">
              <a:buFontTx/>
              <a:buChar char="-"/>
            </a:pPr>
            <a:r>
              <a:rPr lang="ru-RU" dirty="0"/>
              <a:t>Между кол-вом активных аккаунтов и кол-вом аккаунтов не кредитных карт (0,77) </a:t>
            </a:r>
            <a:r>
              <a:rPr lang="ru-RU" b="0" i="0" dirty="0">
                <a:effectLst/>
                <a:latin typeface="-apple-system"/>
              </a:rPr>
              <a:t>-&gt; производный признак "Есть или нет активная кредитная карта“</a:t>
            </a:r>
            <a:r>
              <a:rPr lang="en-US" b="0" i="0" dirty="0">
                <a:effectLst/>
                <a:latin typeface="-apple-system"/>
              </a:rPr>
              <a:t>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exists_active_cc</a:t>
            </a:r>
            <a:r>
              <a:rPr lang="en-US" altLang="ru-RU" sz="1600" dirty="0">
                <a:latin typeface="Menlo"/>
              </a:rPr>
              <a:t>)</a:t>
            </a:r>
            <a:r>
              <a:rPr lang="ru-RU" b="0" i="0" dirty="0">
                <a:effectLst/>
                <a:latin typeface="-apple-system"/>
              </a:rPr>
              <a:t> и удалим признак </a:t>
            </a:r>
            <a:r>
              <a:rPr lang="ru-RU" b="0" i="0" dirty="0" err="1">
                <a:effectLst/>
                <a:latin typeface="-apple-system"/>
              </a:rPr>
              <a:t>Active_not_cc</a:t>
            </a:r>
            <a:endParaRPr lang="ru-RU" dirty="0"/>
          </a:p>
          <a:p>
            <a:pPr marL="285750" indent="-285750">
              <a:buFontTx/>
              <a:buChar char="-"/>
            </a:pPr>
            <a:endParaRPr lang="ru-RU" dirty="0"/>
          </a:p>
          <a:p>
            <a:r>
              <a:rPr lang="ru-RU" dirty="0"/>
              <a:t>-&gt; удалим </a:t>
            </a:r>
            <a:r>
              <a:rPr lang="en-US" dirty="0" err="1"/>
              <a:t>all_credits</a:t>
            </a:r>
            <a:r>
              <a:rPr lang="ru-RU" dirty="0"/>
              <a:t> (Кол-во кредитов) и </a:t>
            </a:r>
            <a:r>
              <a:rPr lang="en-US" b="0" i="0" dirty="0" err="1">
                <a:effectLst/>
                <a:latin typeface="-apple-system"/>
              </a:rPr>
              <a:t>sum_of_paym_months</a:t>
            </a:r>
            <a:r>
              <a:rPr lang="en-US" b="0" i="0" dirty="0">
                <a:effectLst/>
                <a:latin typeface="-apple-system"/>
              </a:rPr>
              <a:t> 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1348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31" y="-242312"/>
            <a:ext cx="11597640" cy="1325563"/>
          </a:xfrm>
        </p:spPr>
        <p:txBody>
          <a:bodyPr>
            <a:normAutofit/>
          </a:bodyPr>
          <a:lstStyle/>
          <a:p>
            <a:r>
              <a:rPr lang="ru-RU" sz="3000" b="1" dirty="0"/>
              <a:t>Матрица корреляций для количественных + категориальных признаков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C564D2-5297-4313-98EB-B036E55CF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11" y="862378"/>
            <a:ext cx="6646929" cy="53351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7360C7-C962-4DED-B5B0-7E0C3EB33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17" y="6197485"/>
            <a:ext cx="5200983" cy="6221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C6F787-67BF-4211-BEE8-EC03D143FD05}"/>
              </a:ext>
            </a:extLst>
          </p:cNvPr>
          <p:cNvSpPr txBox="1"/>
          <p:nvPr/>
        </p:nvSpPr>
        <p:spPr>
          <a:xfrm>
            <a:off x="7119160" y="862378"/>
            <a:ext cx="485109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Между категориальными признаками использовала </a:t>
            </a:r>
            <a:r>
              <a:rPr lang="ru-RU" dirty="0" err="1"/>
              <a:t>коэф</a:t>
            </a:r>
            <a:r>
              <a:rPr lang="ru-RU" dirty="0"/>
              <a:t> Крамера </a:t>
            </a:r>
            <a:r>
              <a:rPr lang="en-US" dirty="0"/>
              <a:t>V </a:t>
            </a:r>
            <a:endParaRPr lang="ru-RU" dirty="0"/>
          </a:p>
          <a:p>
            <a:r>
              <a:rPr lang="ru-RU" dirty="0"/>
              <a:t>Между категориальными-количественными - </a:t>
            </a:r>
            <a:r>
              <a:rPr lang="en-US" dirty="0"/>
              <a:t>point-biserial</a:t>
            </a:r>
            <a:endParaRPr lang="ru-RU" dirty="0"/>
          </a:p>
          <a:p>
            <a:endParaRPr lang="ru-RU" dirty="0"/>
          </a:p>
          <a:p>
            <a:r>
              <a:rPr lang="ru-RU" dirty="0"/>
              <a:t>Матрица уже без признаков, которые было решено удалить на предыдущем этапе анализа (чтобы она не была такая громоздкая) </a:t>
            </a:r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Высокая корреляция наблюдается между признаками просрочка Х дней за год -</a:t>
            </a:r>
            <a:r>
              <a:rPr lang="en-US" dirty="0"/>
              <a:t>&gt; </a:t>
            </a:r>
            <a:r>
              <a:rPr lang="ru-RU" dirty="0"/>
              <a:t>оставим только один из этих признаков</a:t>
            </a:r>
          </a:p>
          <a:p>
            <a:pPr marL="285750" indent="-285750">
              <a:buFontTx/>
              <a:buChar char="-"/>
            </a:pPr>
            <a:r>
              <a:rPr lang="ru-RU" dirty="0"/>
              <a:t>Средняя корреляция – между просрочка больше 30 дней, когда-либо и просрочка больше 60 дней, когда-либо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42917-DD87-4FBF-80B3-6EC94E513D8D}"/>
              </a:ext>
            </a:extLst>
          </p:cNvPr>
          <p:cNvSpPr txBox="1"/>
          <p:nvPr/>
        </p:nvSpPr>
        <p:spPr>
          <a:xfrm>
            <a:off x="7660425" y="6450307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hlinkClick r:id="rId4"/>
              </a:rPr>
              <a:t>Статья с коэффициентами корреляции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5460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Итоговая витрина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5C5E5D-97F7-4548-901D-E797AFD118EB}"/>
              </a:ext>
            </a:extLst>
          </p:cNvPr>
          <p:cNvSpPr txBox="1"/>
          <p:nvPr/>
        </p:nvSpPr>
        <p:spPr>
          <a:xfrm>
            <a:off x="520147" y="142812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-apple-system"/>
              </a:rPr>
              <a:t>Признаки: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661EDF-1ACE-4E26-8F07-EF6F965EACD5}"/>
              </a:ext>
            </a:extLst>
          </p:cNvPr>
          <p:cNvSpPr txBox="1"/>
          <p:nvPr/>
        </p:nvSpPr>
        <p:spPr>
          <a:xfrm>
            <a:off x="664596" y="4030206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effectLst/>
                <a:latin typeface="-apple-system"/>
              </a:rPr>
              <a:t>Размерность: </a:t>
            </a:r>
            <a:r>
              <a:rPr lang="en-US" b="0" i="0" dirty="0">
                <a:effectLst/>
                <a:latin typeface="-apple-system"/>
              </a:rPr>
              <a:t>28</a:t>
            </a:r>
            <a:r>
              <a:rPr lang="ru-RU" b="0" i="0" dirty="0">
                <a:effectLst/>
                <a:latin typeface="-apple-system"/>
              </a:rPr>
              <a:t> столбц</a:t>
            </a:r>
            <a:r>
              <a:rPr lang="ru-RU" dirty="0">
                <a:latin typeface="-apple-system"/>
              </a:rPr>
              <a:t>ов и 3733 строки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424812E-6A75-4406-9A6A-B093388F3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47" y="2103104"/>
            <a:ext cx="6173061" cy="151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4668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данных для сегментации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34447" cy="4351338"/>
          </a:xfrm>
        </p:spPr>
        <p:txBody>
          <a:bodyPr/>
          <a:lstStyle/>
          <a:p>
            <a:pPr>
              <a:buFontTx/>
              <a:buChar char="-"/>
            </a:pPr>
            <a:r>
              <a:rPr lang="ru-RU" dirty="0"/>
              <a:t>С помощью метода </a:t>
            </a:r>
            <a:r>
              <a:rPr lang="en-US" dirty="0" err="1"/>
              <a:t>pd.get_dummies</a:t>
            </a:r>
            <a:r>
              <a:rPr lang="ru-RU" dirty="0"/>
              <a:t> преобразуем категориальные переменные</a:t>
            </a:r>
            <a:r>
              <a:rPr lang="en-US" dirty="0"/>
              <a:t> -&gt; 6</a:t>
            </a:r>
            <a:r>
              <a:rPr lang="ru-RU" dirty="0"/>
              <a:t>7</a:t>
            </a:r>
            <a:r>
              <a:rPr lang="en-US" dirty="0"/>
              <a:t> </a:t>
            </a:r>
            <a:r>
              <a:rPr lang="ru-RU" dirty="0"/>
              <a:t>столбец</a:t>
            </a:r>
          </a:p>
          <a:p>
            <a:pPr>
              <a:buFontTx/>
              <a:buChar char="-"/>
            </a:pPr>
            <a:r>
              <a:rPr lang="ru-RU" dirty="0"/>
              <a:t>Удалим выбросы -</a:t>
            </a:r>
            <a:r>
              <a:rPr lang="en-US" dirty="0"/>
              <a:t>&gt; 3</a:t>
            </a:r>
            <a:r>
              <a:rPr lang="ru-RU" dirty="0"/>
              <a:t>276</a:t>
            </a:r>
            <a:r>
              <a:rPr lang="en-US" dirty="0"/>
              <a:t> </a:t>
            </a:r>
            <a:r>
              <a:rPr lang="ru-RU" dirty="0"/>
              <a:t>строк</a:t>
            </a:r>
          </a:p>
          <a:p>
            <a:pPr>
              <a:buFontTx/>
              <a:buChar char="-"/>
            </a:pPr>
            <a:r>
              <a:rPr lang="ru-RU" dirty="0"/>
              <a:t>Нормализуем данные</a:t>
            </a:r>
          </a:p>
          <a:p>
            <a:pPr>
              <a:buFontTx/>
              <a:buChar char="-"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34BAC9-8FE7-42BB-AC72-1BADB3B7C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800" y="1690688"/>
            <a:ext cx="4572799" cy="455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92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41" y="2400659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-apple-system"/>
              </a:rPr>
              <a:t>Задача 2</a:t>
            </a:r>
            <a:r>
              <a:rPr lang="en-US" b="1" dirty="0">
                <a:latin typeface="-apple-system"/>
              </a:rPr>
              <a:t>-3</a:t>
            </a:r>
            <a:r>
              <a:rPr lang="ru-RU" b="1" dirty="0">
                <a:latin typeface="-apple-system"/>
              </a:rPr>
              <a:t>: </a:t>
            </a:r>
            <a:r>
              <a:rPr lang="ru-RU" b="1" i="0" dirty="0">
                <a:effectLst/>
                <a:latin typeface="-apple-system"/>
              </a:rPr>
              <a:t>Сегментация</a:t>
            </a:r>
            <a:r>
              <a:rPr lang="en-US" b="1" i="0" dirty="0">
                <a:effectLst/>
                <a:latin typeface="-apple-system"/>
              </a:rPr>
              <a:t> </a:t>
            </a:r>
            <a:r>
              <a:rPr lang="ru-RU" b="1" i="0" dirty="0">
                <a:effectLst/>
                <a:latin typeface="-apple-system"/>
              </a:rPr>
              <a:t>и оценка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08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– </a:t>
            </a:r>
            <a:r>
              <a:rPr lang="ru-RU" b="1" dirty="0"/>
              <a:t>выбор кол-ва кластеров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4EBEDB4-E962-4F21-96B0-CEDF158A9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24" y="1475019"/>
            <a:ext cx="5283450" cy="3386541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6BBF8DC-3D51-4C04-B673-92437913F32E}"/>
              </a:ext>
            </a:extLst>
          </p:cNvPr>
          <p:cNvCxnSpPr/>
          <p:nvPr/>
        </p:nvCxnSpPr>
        <p:spPr>
          <a:xfrm>
            <a:off x="2072640" y="1690688"/>
            <a:ext cx="0" cy="2789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8AD46E3-9B02-494F-B8A7-1FFA82EE205F}"/>
              </a:ext>
            </a:extLst>
          </p:cNvPr>
          <p:cNvCxnSpPr/>
          <p:nvPr/>
        </p:nvCxnSpPr>
        <p:spPr>
          <a:xfrm>
            <a:off x="2994660" y="1690688"/>
            <a:ext cx="0" cy="2789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74E610-0704-41BC-AF52-5558C433A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11" y="1439026"/>
            <a:ext cx="5269112" cy="329319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10C7BF4-93AB-44CF-B8D7-3A31E9E9309B}"/>
              </a:ext>
            </a:extLst>
          </p:cNvPr>
          <p:cNvSpPr txBox="1"/>
          <p:nvPr/>
        </p:nvSpPr>
        <p:spPr>
          <a:xfrm>
            <a:off x="838200" y="5167312"/>
            <a:ext cx="104546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ru-RU" dirty="0"/>
              <a:t>По методу локтя наиболее оптимальные значения: 2, 4, 6</a:t>
            </a:r>
          </a:p>
          <a:p>
            <a:pPr marL="285750" indent="-285750">
              <a:buFontTx/>
              <a:buChar char="-"/>
            </a:pPr>
            <a:r>
              <a:rPr lang="ru-RU" b="0" dirty="0">
                <a:solidFill>
                  <a:srgbClr val="1F1F1F"/>
                </a:solidFill>
                <a:effectLst/>
                <a:latin typeface="Google Sans Text"/>
              </a:rPr>
              <a:t>Индекс Дэвиса-</a:t>
            </a:r>
            <a:r>
              <a:rPr lang="ru-RU" b="0" dirty="0" err="1">
                <a:solidFill>
                  <a:srgbClr val="1F1F1F"/>
                </a:solidFill>
                <a:effectLst/>
                <a:latin typeface="Google Sans Text"/>
              </a:rPr>
              <a:t>Булдина</a:t>
            </a:r>
            <a:r>
              <a:rPr lang="ru-RU" b="0" dirty="0">
                <a:solidFill>
                  <a:srgbClr val="1F1F1F"/>
                </a:solidFill>
                <a:effectLst/>
                <a:latin typeface="Google Sans Text"/>
              </a:rPr>
              <a:t> -минимальное значение после 12 кластеров, но также есть </a:t>
            </a:r>
            <a:r>
              <a:rPr lang="ru-RU" b="0" dirty="0" err="1">
                <a:solidFill>
                  <a:srgbClr val="1F1F1F"/>
                </a:solidFill>
                <a:effectLst/>
                <a:latin typeface="Google Sans Text"/>
              </a:rPr>
              <a:t>значтительный</a:t>
            </a:r>
            <a:r>
              <a:rPr lang="ru-RU" b="0" dirty="0">
                <a:solidFill>
                  <a:srgbClr val="1F1F1F"/>
                </a:solidFill>
                <a:effectLst/>
                <a:latin typeface="Google Sans Text"/>
              </a:rPr>
              <a:t> спад после 6-7 кластеров</a:t>
            </a: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BD6F62D1-0714-40DF-B0C4-6C24CEB363F1}"/>
              </a:ext>
            </a:extLst>
          </p:cNvPr>
          <p:cNvCxnSpPr/>
          <p:nvPr/>
        </p:nvCxnSpPr>
        <p:spPr>
          <a:xfrm>
            <a:off x="1432560" y="1690687"/>
            <a:ext cx="0" cy="2789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4566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 – </a:t>
            </a:r>
            <a:r>
              <a:rPr lang="ru-RU" b="1" dirty="0"/>
              <a:t>выбор кол-ва кластеров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064AA6-E2B7-4891-A4D3-FA0C1D71B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64" y="1525226"/>
            <a:ext cx="5683430" cy="34713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B87668-EDCD-4338-ABCA-168288FEC72C}"/>
              </a:ext>
            </a:extLst>
          </p:cNvPr>
          <p:cNvSpPr txBox="1"/>
          <p:nvPr/>
        </p:nvSpPr>
        <p:spPr>
          <a:xfrm>
            <a:off x="6172200" y="1690688"/>
            <a:ext cx="4526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1F1F1F"/>
                </a:solidFill>
                <a:effectLst/>
                <a:latin typeface="Google Sans Text"/>
              </a:rPr>
              <a:t>Метод силуэта: наибольшее (то есть близкое к 1) значение для кластеров 2, 3, 14, 15, также есть всплеск на 7-8, 11-12, но при этом все значения далеки от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14C86-D485-41A9-BC9B-F7DCE408DD18}"/>
              </a:ext>
            </a:extLst>
          </p:cNvPr>
          <p:cNvSpPr txBox="1"/>
          <p:nvPr/>
        </p:nvSpPr>
        <p:spPr>
          <a:xfrm>
            <a:off x="6322094" y="5162005"/>
            <a:ext cx="4526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dirty="0">
                <a:solidFill>
                  <a:srgbClr val="1F1F1F"/>
                </a:solidFill>
                <a:effectLst/>
                <a:latin typeface="Google Sans Text"/>
              </a:rPr>
              <a:t>-</a:t>
            </a:r>
            <a:r>
              <a:rPr lang="en-US" b="0" dirty="0">
                <a:solidFill>
                  <a:srgbClr val="1F1F1F"/>
                </a:solidFill>
                <a:effectLst/>
                <a:latin typeface="Google Sans Text"/>
              </a:rPr>
              <a:t>&gt; </a:t>
            </a:r>
            <a:r>
              <a:rPr lang="ru-RU" b="0" dirty="0">
                <a:solidFill>
                  <a:srgbClr val="1F1F1F"/>
                </a:solidFill>
                <a:effectLst/>
                <a:latin typeface="Google Sans Text"/>
              </a:rPr>
              <a:t>сегментация на 3-4 кластера</a:t>
            </a:r>
            <a:r>
              <a:rPr lang="ru-RU" dirty="0">
                <a:solidFill>
                  <a:srgbClr val="1F1F1F"/>
                </a:solidFill>
                <a:latin typeface="Google Sans Text"/>
              </a:rPr>
              <a:t> будет неинформативной, поэтому возьмем 7 кластеров</a:t>
            </a:r>
            <a:endParaRPr lang="ru-RU" b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9898657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endParaRPr lang="ru-RU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197C1B-9AD3-4F09-B92B-465902FAC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70" y="1309688"/>
            <a:ext cx="11087290" cy="44223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9D7A8B-E32F-49CF-8A72-968C6607A844}"/>
              </a:ext>
            </a:extLst>
          </p:cNvPr>
          <p:cNvSpPr txBox="1"/>
          <p:nvPr/>
        </p:nvSpPr>
        <p:spPr>
          <a:xfrm>
            <a:off x="891540" y="5732058"/>
            <a:ext cx="10675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ru-RU" b="0" dirty="0">
                <a:solidFill>
                  <a:srgbClr val="1F1F1F"/>
                </a:solidFill>
                <a:effectLst/>
                <a:latin typeface="Google Sans Text"/>
              </a:rPr>
              <a:t>На левом графике видно, что центры кластеров находятся очень близко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rgbClr val="1F1F1F"/>
                </a:solidFill>
                <a:latin typeface="Google Sans Text"/>
              </a:rPr>
              <a:t>На правом графике показано распределения по кластерам: два кластера составляют менее 3%</a:t>
            </a:r>
          </a:p>
          <a:p>
            <a:r>
              <a:rPr lang="ru-RU" dirty="0">
                <a:solidFill>
                  <a:srgbClr val="1F1F1F"/>
                </a:solidFill>
                <a:latin typeface="Google Sans Text"/>
              </a:rPr>
              <a:t>-</a:t>
            </a:r>
            <a:r>
              <a:rPr lang="en-US" dirty="0">
                <a:solidFill>
                  <a:srgbClr val="1F1F1F"/>
                </a:solidFill>
                <a:latin typeface="Google Sans Text"/>
              </a:rPr>
              <a:t>&gt; </a:t>
            </a:r>
            <a:r>
              <a:rPr lang="ru-RU" dirty="0">
                <a:solidFill>
                  <a:srgbClr val="1F1F1F"/>
                </a:solidFill>
                <a:latin typeface="Google Sans Text"/>
              </a:rPr>
              <a:t>видно, что сегментация получилось не очень качественной</a:t>
            </a:r>
            <a:endParaRPr lang="ru-RU" b="0" dirty="0">
              <a:solidFill>
                <a:srgbClr val="1F1F1F"/>
              </a:solidFill>
              <a:effectLst/>
              <a:latin typeface="Google Sans Text"/>
            </a:endParaRPr>
          </a:p>
          <a:p>
            <a:endParaRPr lang="ru-RU" b="0" dirty="0">
              <a:solidFill>
                <a:srgbClr val="1F1F1F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885293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RFM </a:t>
            </a:r>
            <a:r>
              <a:rPr lang="ru-RU" b="1" dirty="0"/>
              <a:t>сегментация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dirty="0"/>
              <a:t>RFM-анализ позволяет разделить клиентов на группы на основе трёх ключевых параметров:  </a:t>
            </a:r>
          </a:p>
          <a:p>
            <a:pPr marL="0" indent="0">
              <a:buNone/>
            </a:pPr>
            <a:r>
              <a:rPr lang="ru-RU" dirty="0"/>
              <a:t>- </a:t>
            </a:r>
            <a:r>
              <a:rPr lang="ru-RU" dirty="0" err="1"/>
              <a:t>Recency</a:t>
            </a:r>
            <a:r>
              <a:rPr lang="ru-RU" dirty="0"/>
              <a:t> — давность последней покупки;  </a:t>
            </a:r>
          </a:p>
          <a:p>
            <a:pPr marL="0" indent="0">
              <a:buNone/>
            </a:pPr>
            <a:r>
              <a:rPr lang="ru-RU" dirty="0"/>
              <a:t>- </a:t>
            </a:r>
            <a:r>
              <a:rPr lang="ru-RU" dirty="0" err="1"/>
              <a:t>Frequency</a:t>
            </a:r>
            <a:r>
              <a:rPr lang="ru-RU" dirty="0"/>
              <a:t> — частота сделок (число транзакций);  </a:t>
            </a:r>
          </a:p>
          <a:p>
            <a:pPr marL="0" indent="0">
              <a:buNone/>
            </a:pPr>
            <a:r>
              <a:rPr lang="ru-RU" dirty="0"/>
              <a:t>- </a:t>
            </a:r>
            <a:r>
              <a:rPr lang="ru-RU" dirty="0" err="1"/>
              <a:t>Monetary</a:t>
            </a:r>
            <a:r>
              <a:rPr lang="ru-RU" dirty="0"/>
              <a:t> — объём потраченных средств.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Далее каждому показателю присваивается оценка от 1 до 5 по квантилям: данные сортируются по критерию и делятся на равные группы.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Преимущества:  </a:t>
            </a:r>
          </a:p>
          <a:p>
            <a:pPr marL="0" indent="0">
              <a:buNone/>
            </a:pPr>
            <a:r>
              <a:rPr lang="ru-RU" dirty="0"/>
              <a:t>- Точно выделяет сегменты по заданным показателям;  </a:t>
            </a:r>
          </a:p>
          <a:p>
            <a:pPr marL="0" indent="0">
              <a:buNone/>
            </a:pPr>
            <a:r>
              <a:rPr lang="ru-RU" dirty="0"/>
              <a:t>- Прост в выполнении и интерпретации;  </a:t>
            </a:r>
          </a:p>
          <a:p>
            <a:pPr marL="0" indent="0">
              <a:buNone/>
            </a:pPr>
            <a:r>
              <a:rPr lang="ru-RU" dirty="0"/>
              <a:t>- Позволяет выявить ключевых клиентов — самых активных, частых и тех, кто давно не покупал.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Недостаток:  </a:t>
            </a:r>
          </a:p>
          <a:p>
            <a:pPr marL="0" indent="0">
              <a:buNone/>
            </a:pPr>
            <a:r>
              <a:rPr lang="ru-RU" dirty="0"/>
              <a:t>- Не подходит для прогнозного анализа, но в данном случае прогноз не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18570448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RFM </a:t>
            </a:r>
            <a:r>
              <a:rPr lang="ru-RU" b="1" dirty="0"/>
              <a:t>сегментация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468150"/>
            <a:ext cx="355092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Для сегментации возьмем следующие признаки: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 err="1"/>
              <a:t>Recency</a:t>
            </a:r>
            <a:r>
              <a:rPr lang="ru-RU" sz="900" dirty="0"/>
              <a:t> (</a:t>
            </a:r>
            <a:r>
              <a:rPr lang="ru-RU" sz="900" dirty="0" err="1"/>
              <a:t>min_MnthAfterLoan</a:t>
            </a:r>
            <a:r>
              <a:rPr lang="ru-RU" sz="900" dirty="0"/>
              <a:t>) – чем меньше, тем лучше: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─────────────────────────────────────────────────────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5 – ТОЛЬКО ЧТО    Последний кредит был взят только что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4 – НЕДАВНО       Брали кредит недавно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3 – НЕ ТАК ДАВНО  Брали кредит относительно недавно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2 – ДАВНО         Почти потерянные клиенты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1 – ОЧЕНЬ ДАВНО   Наиболее потерянные клиенты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9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3248207-FEB0-43A9-AFC7-65ECECBF9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5645226-0699-4936-AAB0-80B69A61C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289B08-9B83-4954-B5E7-68FF82748F19}"/>
              </a:ext>
            </a:extLst>
          </p:cNvPr>
          <p:cNvSpPr txBox="1"/>
          <p:nvPr/>
        </p:nvSpPr>
        <p:spPr>
          <a:xfrm>
            <a:off x="3855720" y="1690688"/>
            <a:ext cx="349758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 err="1"/>
              <a:t>Monetary</a:t>
            </a:r>
            <a:r>
              <a:rPr lang="ru-RU" sz="900" dirty="0"/>
              <a:t> (</a:t>
            </a:r>
            <a:r>
              <a:rPr lang="ru-RU" sz="900" dirty="0" err="1"/>
              <a:t>sum_of_paym_months</a:t>
            </a:r>
            <a:r>
              <a:rPr lang="ru-RU" sz="900" dirty="0"/>
              <a:t>) – чем больше, тем лучше: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─────────────────────────────────────────────────────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5 – ОЧЕНЬ МНОГО   Наиболее платежеспособные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4 – МНОГО         Приличная сумма в последний месяц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3 – НЕ ОЧЕНЬ      Платили, но не много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2 – МАЛО          Практически не платили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1 – ОЧЕНЬ МАЛО    Не платили ни разу или очень мало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66A59B-B2AE-4EA0-AE7E-005DDDA1C3DA}"/>
              </a:ext>
            </a:extLst>
          </p:cNvPr>
          <p:cNvSpPr txBox="1"/>
          <p:nvPr/>
        </p:nvSpPr>
        <p:spPr>
          <a:xfrm>
            <a:off x="7353300" y="1690688"/>
            <a:ext cx="609600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 err="1"/>
              <a:t>Frequency</a:t>
            </a:r>
            <a:r>
              <a:rPr lang="ru-RU" sz="900" dirty="0"/>
              <a:t> (</a:t>
            </a:r>
            <a:r>
              <a:rPr lang="ru-RU" sz="900" dirty="0" err="1"/>
              <a:t>all_credits</a:t>
            </a:r>
            <a:r>
              <a:rPr lang="ru-RU" sz="900" dirty="0"/>
              <a:t>) – чем больше, тем лучше: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─────────────────────────────────────────────────────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5 – ОЧЕНЬ ЧАСТО   Наибольшее количество кредитов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4 – ЧАСТО         Приличное количество кредитов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3 – ДОСТАТОЧНО    Более 5 кредитов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2 – РЕДКО         Всего несколько кредитов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900" dirty="0"/>
              <a:t>1 – ОЧЕНЬ РЕДКО   Очень мало кредитов (разово)</a:t>
            </a:r>
          </a:p>
        </p:txBody>
      </p:sp>
    </p:spTree>
    <p:extLst>
      <p:ext uri="{BB962C8B-B14F-4D97-AF65-F5344CB8AC3E}">
        <p14:creationId xmlns:p14="http://schemas.microsoft.com/office/powerpoint/2010/main" val="27390311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133BC-D9E5-4073-88DC-60E6EA8C2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RFM </a:t>
            </a:r>
            <a:r>
              <a:rPr lang="ru-RU" b="1" dirty="0"/>
              <a:t>сегментация</a:t>
            </a:r>
            <a:r>
              <a:rPr lang="en-US" b="1" dirty="0"/>
              <a:t>: </a:t>
            </a:r>
            <a:r>
              <a:rPr lang="ru-RU" b="1" dirty="0"/>
              <a:t>распределение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AC155AF-D659-4C4B-9523-9E7D0271F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1565" y="1690688"/>
            <a:ext cx="8883042" cy="435133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0BCA276-6F41-4134-953C-703DC4C85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3437" y="2028582"/>
            <a:ext cx="2610904" cy="16466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900" dirty="0">
                <a:latin typeface="Menlo"/>
              </a:rPr>
              <a:t>Наиболее частые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 комбинации: 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1-1-1: 166 клиентов (4.4%)  - риск оттока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5-5-5: 136 клиентов (3.6%)  - 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VIP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nlo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3-5-5: 126 клиентов (3.4%) 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 - 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высокоценные </a:t>
            </a:r>
            <a:r>
              <a:rPr kumimoji="0" lang="ru-RU" altLang="ru-RU" sz="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кл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 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nlo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4-5-5: 124 клиентов (3.3%) - 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VIP</a:t>
            </a: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nlo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2-1-1: 110 клиентов (2.9%)</a:t>
            </a:r>
            <a:r>
              <a:rPr kumimoji="0" lang="en-US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 – </a:t>
            </a:r>
            <a:r>
              <a:rPr kumimoji="0" lang="ru-RU" altLang="ru-RU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риск оттока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ru-RU" altLang="ru-RU" sz="900" dirty="0">
                <a:latin typeface="Menlo"/>
              </a:rPr>
              <a:t>3-1-1: 99 клиентов (2,8%) – лояльные </a:t>
            </a:r>
            <a:r>
              <a:rPr lang="ru-RU" altLang="ru-RU" sz="900" dirty="0" err="1">
                <a:latin typeface="Menlo"/>
              </a:rPr>
              <a:t>кл</a:t>
            </a:r>
            <a:endParaRPr lang="ru-RU" altLang="ru-RU" sz="900" dirty="0">
              <a:latin typeface="Menlo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lang="ru-RU" altLang="ru-RU" sz="900" dirty="0"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ru-RU" sz="900" dirty="0">
                <a:latin typeface="Menlo"/>
              </a:rPr>
              <a:t>-&gt; </a:t>
            </a:r>
            <a:r>
              <a:rPr lang="ru-RU" altLang="ru-RU" sz="900" dirty="0">
                <a:latin typeface="Menlo"/>
              </a:rPr>
              <a:t>Эти комбинации и будут базой для более крупных сегментов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ru-RU" altLang="ru-RU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enlo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254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29500"/>
            <a:ext cx="10515600" cy="1325563"/>
          </a:xfrm>
        </p:spPr>
        <p:txBody>
          <a:bodyPr/>
          <a:lstStyle/>
          <a:p>
            <a:r>
              <a:rPr lang="en-US" b="1" dirty="0"/>
              <a:t>RFM </a:t>
            </a:r>
            <a:r>
              <a:rPr lang="ru-RU" b="1" dirty="0"/>
              <a:t>сегментация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783" y="988550"/>
            <a:ext cx="11056951" cy="4880900"/>
          </a:xfrm>
        </p:spPr>
        <p:txBody>
          <a:bodyPr numCol="2">
            <a:noAutofit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b="1" dirty="0">
                <a:latin typeface="Arial" panose="020B0604020202020204" pitchFamily="34" charset="0"/>
                <a:cs typeface="Arial" panose="020B0604020202020204" pitchFamily="34" charset="0"/>
              </a:rPr>
              <a:t> Логика объединения 125 RFM-сегментов в 5 стратегических групп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- 125 возможных комбинаций = 5 (R) × 5 (F) × 5 (M)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Каждая комбинация = уникальный RFM-паттерн (например, 3-4-5)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- 111 = наименее перспективный клиент (давно, редко, мало)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- 555 = наиболее перспективный клиент (недавно, часто, много)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Проблема 125 сегментов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Слишком детализировано для бизнес-решений</a:t>
            </a:r>
          </a:p>
          <a:p>
            <a:pPr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Сложно разрабатывать 125 разных стратегий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  <a:buFontTx/>
              <a:buChar char="-"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Необходимость группировки по стратегической значимости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Стратегическая группировка в 5 сегментов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1. VIP/Лучшие клиенты (комбинации 4xx-5xx)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Паттерн: Высокие значения по всем трем осям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Примеры: 555, 554, 545, 455, 544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Характеристика: Активные, частые, высокодоходные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2. Лояльные клиенты (комбинации 3xx-4xx)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Паттерн: Хорошие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Recency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Frequency</a:t>
            </a: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Примеры: 443, 434, 344, 433, 343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Характеристика: Регулярные покупатели со средним чеком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3. Высокоценные клиенты (комбинации xx4-xx5)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Паттерн: Высокий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Monetary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при любых R и F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Примеры: 155, 255, 355, 154, 254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Характеристика: Крупные платежи, могут быть нерегулярными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4. Потенциальные клиенты (комбинации 4xx-5xx с низкими F/M)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Паттерн: Хороший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Recency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, но низкие F/M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Примеры: 511, 521, 512, 411, 421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Характеристика: Недавно пришли, потенциал роста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5. Риск оттока (комбинации 1xx-2xx)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Паттерн: Низкий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Recency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и/или низкие F/M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Примеры: 111, 112, 121, 211, 122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Характеристика: Давно неактивны или низкая ценность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Критерии объединения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1. Бизнес-логика &gt; математика - стратегическая значимость групп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2. Приоритет </a:t>
            </a:r>
            <a:r>
              <a:rPr lang="ru-RU" sz="1000" dirty="0" err="1">
                <a:latin typeface="Arial" panose="020B0604020202020204" pitchFamily="34" charset="0"/>
                <a:cs typeface="Arial" panose="020B0604020202020204" pitchFamily="34" charset="0"/>
              </a:rPr>
              <a:t>Recency</a:t>
            </a: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- актуальность клиента важнее частоты или суммы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3. Управляемость - 5 групп = 5 понятных стратегий действий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4. Однородность внутри групп - схожие поведенческие паттерны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 Результат группировки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Из 125 математических → 5 стратегических сегментов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Каждому сегменту → четкая стратегия взаимодействия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000" dirty="0">
                <a:latin typeface="Arial" panose="020B0604020202020204" pitchFamily="34" charset="0"/>
                <a:cs typeface="Arial" panose="020B0604020202020204" pitchFamily="34" charset="0"/>
              </a:rPr>
              <a:t>- Оптимальный баланс между детализацией и управляемостью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endParaRPr lang="ru-RU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0878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933B2-662B-43C9-A908-ABADB4639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RFM </a:t>
            </a:r>
            <a:r>
              <a:rPr lang="ru-RU" b="1" dirty="0"/>
              <a:t>сегменты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250F98F-7F25-474E-8225-4FE72E103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17479"/>
            <a:ext cx="10297962" cy="150516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72C898-098C-4E72-A725-0A9D347AC6FD}"/>
              </a:ext>
            </a:extLst>
          </p:cNvPr>
          <p:cNvSpPr txBox="1"/>
          <p:nvPr/>
        </p:nvSpPr>
        <p:spPr>
          <a:xfrm>
            <a:off x="979999" y="3429000"/>
            <a:ext cx="60946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Наиболее популярные комбинации </a:t>
            </a:r>
            <a:r>
              <a:rPr lang="en-US" sz="1800" dirty="0"/>
              <a:t>RFM </a:t>
            </a:r>
            <a:r>
              <a:rPr lang="ru-RU" sz="1800" dirty="0"/>
              <a:t>для сегментов: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Для 1 – 555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Для 2 – 343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Для 3 – 134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Для 4 – 421</a:t>
            </a:r>
          </a:p>
          <a:p>
            <a:pPr marL="285750" indent="-285750">
              <a:buFontTx/>
              <a:buChar char="-"/>
            </a:pPr>
            <a:r>
              <a:rPr lang="ru-RU" dirty="0"/>
              <a:t>Для 5 – 111</a:t>
            </a:r>
          </a:p>
          <a:p>
            <a:pPr marL="342900" indent="-342900"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8291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541" y="2400659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-apple-system"/>
              </a:rPr>
              <a:t>Задача </a:t>
            </a:r>
            <a:r>
              <a:rPr lang="en-US" b="1" dirty="0">
                <a:latin typeface="-apple-system"/>
              </a:rPr>
              <a:t>4</a:t>
            </a:r>
            <a:r>
              <a:rPr lang="ru-RU" b="1" dirty="0">
                <a:latin typeface="-apple-system"/>
              </a:rPr>
              <a:t>:</a:t>
            </a:r>
            <a:r>
              <a:rPr lang="en-US" b="1" dirty="0">
                <a:latin typeface="-apple-system"/>
              </a:rPr>
              <a:t> </a:t>
            </a:r>
            <a:r>
              <a:rPr lang="ru-RU" b="1" dirty="0">
                <a:latin typeface="-apple-system"/>
              </a:rPr>
              <a:t>Профили клиентов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4332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1391285"/>
            <a:ext cx="10820400" cy="110807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Для составления профилей посмотрим средние значения по каждому признаку в кластере (ниже пример, нумерация кластеров с 0, далее – с 1)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5DCBE7A-C84A-4932-A963-185625EE6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43" y="2201750"/>
            <a:ext cx="5669837" cy="33633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959554-D2F5-44E4-B4BC-FDCE1B4D8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16629"/>
            <a:ext cx="5567193" cy="334849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810E345-76BF-4D30-86A4-9125080507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2905"/>
          <a:stretch/>
        </p:blipFill>
        <p:spPr>
          <a:xfrm>
            <a:off x="6051056" y="5584049"/>
            <a:ext cx="5612137" cy="99453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F73307A-6685-4360-8658-20C8B5C043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113"/>
          <a:stretch/>
        </p:blipFill>
        <p:spPr>
          <a:xfrm>
            <a:off x="328865" y="5567809"/>
            <a:ext cx="5722191" cy="7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75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r>
              <a:rPr lang="ru-RU" b="1" dirty="0"/>
              <a:t>: сегмент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Руководители среднего бизнеса в кризисе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Мужчины, средний возраст - 40 лет</a:t>
            </a:r>
          </a:p>
          <a:p>
            <a:pPr>
              <a:buFontTx/>
              <a:buChar char="-"/>
            </a:pPr>
            <a:r>
              <a:rPr lang="ru-RU" dirty="0"/>
              <a:t>Почти все с высшим образованием (91%)</a:t>
            </a:r>
          </a:p>
          <a:p>
            <a:pPr>
              <a:buFontTx/>
              <a:buChar char="-"/>
            </a:pPr>
            <a:r>
              <a:rPr lang="ru-RU" dirty="0"/>
              <a:t>Большинство (70%) женаты, скорее с детьми</a:t>
            </a:r>
          </a:p>
          <a:p>
            <a:pPr>
              <a:buFontTx/>
              <a:buChar char="-"/>
            </a:pPr>
            <a:r>
              <a:rPr lang="ru-RU" dirty="0"/>
              <a:t>Менеджер высшего звена (форма: ООО, сфера - торговля)</a:t>
            </a:r>
          </a:p>
          <a:p>
            <a:pPr>
              <a:buFontTx/>
              <a:buChar char="-"/>
            </a:pPr>
            <a:r>
              <a:rPr lang="ru-RU" dirty="0"/>
              <a:t>Зарплата </a:t>
            </a:r>
            <a:r>
              <a:rPr lang="en-US" dirty="0"/>
              <a:t>&lt;50 (</a:t>
            </a:r>
            <a:r>
              <a:rPr lang="ru-RU" dirty="0"/>
              <a:t>70%)</a:t>
            </a:r>
          </a:p>
          <a:p>
            <a:pPr>
              <a:buFontTx/>
              <a:buChar char="-"/>
            </a:pPr>
            <a:r>
              <a:rPr lang="ru-RU" dirty="0"/>
              <a:t>Цель кредита – ремонт (67%), покупка авто (12%)</a:t>
            </a:r>
          </a:p>
          <a:p>
            <a:pPr>
              <a:buFontTx/>
              <a:buChar char="-"/>
            </a:pPr>
            <a:r>
              <a:rPr lang="ru-RU" dirty="0"/>
              <a:t>Открытых счетов достаточно много (больше, чем среди </a:t>
            </a:r>
            <a:r>
              <a:rPr lang="ru-RU" dirty="0" err="1"/>
              <a:t>дргуих</a:t>
            </a:r>
            <a:r>
              <a:rPr lang="ru-RU" dirty="0"/>
              <a:t> кластеров) – в среднем около 3, высок риск просрочки (62%)</a:t>
            </a:r>
          </a:p>
          <a:p>
            <a:pPr marL="0" indent="0">
              <a:buNone/>
            </a:pPr>
            <a:r>
              <a:rPr lang="ru-RU" dirty="0"/>
              <a:t>Вывод: с одной стороны высокая должность, а с другой – низкая </a:t>
            </a:r>
            <a:r>
              <a:rPr lang="ru-RU" dirty="0" err="1"/>
              <a:t>зп</a:t>
            </a:r>
            <a:r>
              <a:rPr lang="ru-RU" dirty="0"/>
              <a:t>. Это говорит о неверной кластеризации или о такой природе данных, поэтому был сделан вывод, что это руководители среднего бизнеса в кризисной ситуации, которым необходимы денежные средства</a:t>
            </a:r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05828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r>
              <a:rPr lang="ru-RU" b="1" dirty="0"/>
              <a:t>: сегмент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Молодые амбициозные специалисты и ИП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Мужчина или женщина, средний возраст – 35,7 лет</a:t>
            </a:r>
          </a:p>
          <a:p>
            <a:pPr>
              <a:buFontTx/>
              <a:buChar char="-"/>
            </a:pPr>
            <a:r>
              <a:rPr lang="ru-RU" dirty="0"/>
              <a:t>Почти все с высшим образованием (78%), но есть с незаконченным средним (17%)</a:t>
            </a:r>
          </a:p>
          <a:p>
            <a:pPr>
              <a:buFontTx/>
              <a:buChar char="-"/>
            </a:pPr>
            <a:r>
              <a:rPr lang="ru-RU" dirty="0"/>
              <a:t>Большинство (64%) женаты/замужем, но есть и холостые/незамужние в значительном кол-ве (32%)</a:t>
            </a:r>
          </a:p>
          <a:p>
            <a:pPr>
              <a:buFontTx/>
              <a:buChar char="-"/>
            </a:pPr>
            <a:r>
              <a:rPr lang="ru-RU" dirty="0"/>
              <a:t>Менеджер среднего звена или специалист (форма: ООО, сфера – торговля/другое, есть ИП (11% - максимум среди всех кластеров)</a:t>
            </a:r>
          </a:p>
          <a:p>
            <a:pPr>
              <a:buFontTx/>
              <a:buChar char="-"/>
            </a:pPr>
            <a:r>
              <a:rPr lang="ru-RU" dirty="0"/>
              <a:t>Зарплата </a:t>
            </a:r>
            <a:r>
              <a:rPr lang="en-US" dirty="0"/>
              <a:t>&lt;50 (</a:t>
            </a:r>
            <a:r>
              <a:rPr lang="ru-RU" dirty="0"/>
              <a:t>100%)</a:t>
            </a:r>
          </a:p>
          <a:p>
            <a:pPr>
              <a:buFontTx/>
              <a:buChar char="-"/>
            </a:pPr>
            <a:r>
              <a:rPr lang="ru-RU" dirty="0"/>
              <a:t>Цель кредита – ремонт (52%), покупка авто (16%), покупка недвижимости (13%)</a:t>
            </a:r>
          </a:p>
          <a:p>
            <a:pPr>
              <a:buFontTx/>
              <a:buChar char="-"/>
            </a:pPr>
            <a:r>
              <a:rPr lang="ru-RU" dirty="0"/>
              <a:t>Открытых счетов – в среднем около 1,5-2</a:t>
            </a:r>
          </a:p>
          <a:p>
            <a:pPr marL="0" indent="0">
              <a:buNone/>
            </a:pPr>
            <a:r>
              <a:rPr lang="ru-RU" dirty="0"/>
              <a:t>Вывод: молодые люди, которые развиваются как ИП и имеют пока невысокий доход</a:t>
            </a:r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92208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r>
              <a:rPr lang="ru-RU" b="1" dirty="0"/>
              <a:t>: сегмент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Стабильные сотрудники корпораций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Мужчина или женщина, средний возраст – 37 лет, с самым большим стажем среди всех кластеров (72 </a:t>
            </a:r>
            <a:r>
              <a:rPr lang="ru-RU" dirty="0" err="1"/>
              <a:t>мес</a:t>
            </a:r>
            <a:r>
              <a:rPr lang="ru-RU" dirty="0"/>
              <a:t>)</a:t>
            </a:r>
          </a:p>
          <a:p>
            <a:pPr>
              <a:buFontTx/>
              <a:buChar char="-"/>
            </a:pPr>
            <a:r>
              <a:rPr lang="ru-RU" dirty="0"/>
              <a:t>Почти все с высшим образованием (79%), но есть со средним или среднее - спец (22% в сумме)</a:t>
            </a:r>
          </a:p>
          <a:p>
            <a:pPr>
              <a:buFontTx/>
              <a:buChar char="-"/>
            </a:pPr>
            <a:r>
              <a:rPr lang="ru-RU" dirty="0"/>
              <a:t>Большинство (58%) женаты/замужем, но есть и холостые/незамужние в значительном кол-ве (42%)</a:t>
            </a:r>
          </a:p>
          <a:p>
            <a:pPr>
              <a:buFontTx/>
              <a:buChar char="-"/>
            </a:pPr>
            <a:r>
              <a:rPr lang="ru-RU" dirty="0"/>
              <a:t>Специалист (форма: ООО, сфера – торговля/другое)</a:t>
            </a:r>
          </a:p>
          <a:p>
            <a:pPr>
              <a:buFontTx/>
              <a:buChar char="-"/>
            </a:pPr>
            <a:r>
              <a:rPr lang="ru-RU" dirty="0"/>
              <a:t>Зарплата </a:t>
            </a:r>
            <a:r>
              <a:rPr lang="en-US" dirty="0"/>
              <a:t>&gt;250 (96</a:t>
            </a:r>
            <a:r>
              <a:rPr lang="ru-RU" dirty="0"/>
              <a:t>%)</a:t>
            </a:r>
          </a:p>
          <a:p>
            <a:pPr>
              <a:buFontTx/>
              <a:buChar char="-"/>
            </a:pPr>
            <a:r>
              <a:rPr lang="ru-RU" dirty="0"/>
              <a:t>Цель кредита – ремонт или строительство </a:t>
            </a:r>
          </a:p>
          <a:p>
            <a:pPr>
              <a:buFontTx/>
              <a:buChar char="-"/>
            </a:pPr>
            <a:r>
              <a:rPr lang="ru-RU" dirty="0"/>
              <a:t>Открытых счетов – в среднем около 2</a:t>
            </a:r>
          </a:p>
          <a:p>
            <a:pPr marL="0" indent="0">
              <a:buNone/>
            </a:pPr>
            <a:r>
              <a:rPr lang="ru-RU" dirty="0"/>
              <a:t>Вывод: стабильные сотрудники больших компаний с внушительным стажем работы с высоким доходом</a:t>
            </a:r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6138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r>
              <a:rPr lang="ru-RU" b="1" dirty="0"/>
              <a:t>: сегмент </a:t>
            </a:r>
            <a:r>
              <a:rPr lang="en-US" b="1" dirty="0"/>
              <a:t>4</a:t>
            </a:r>
            <a:endParaRPr lang="ru-RU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Разведенные женщины, строящие карьеру заново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Женщина, средний возраст – 37 лет, с небольшим стажем работы (44 </a:t>
            </a:r>
            <a:r>
              <a:rPr lang="ru-RU" dirty="0" err="1"/>
              <a:t>мес</a:t>
            </a:r>
            <a:r>
              <a:rPr lang="ru-RU" dirty="0"/>
              <a:t>)</a:t>
            </a:r>
          </a:p>
          <a:p>
            <a:pPr>
              <a:buFontTx/>
              <a:buChar char="-"/>
            </a:pPr>
            <a:r>
              <a:rPr lang="ru-RU" dirty="0"/>
              <a:t>Почти все с высшим образованием</a:t>
            </a:r>
          </a:p>
          <a:p>
            <a:pPr>
              <a:buFontTx/>
              <a:buChar char="-"/>
            </a:pPr>
            <a:r>
              <a:rPr lang="ru-RU" dirty="0"/>
              <a:t>Разведена</a:t>
            </a:r>
          </a:p>
          <a:p>
            <a:pPr>
              <a:buFontTx/>
              <a:buChar char="-"/>
            </a:pPr>
            <a:r>
              <a:rPr lang="ru-RU" dirty="0"/>
              <a:t>Специалист (форма: ООО, сфера – торговля/другое)</a:t>
            </a:r>
          </a:p>
          <a:p>
            <a:pPr>
              <a:buFontTx/>
              <a:buChar char="-"/>
            </a:pPr>
            <a:r>
              <a:rPr lang="ru-RU" dirty="0"/>
              <a:t>Зарплата </a:t>
            </a:r>
            <a:r>
              <a:rPr lang="en-US" dirty="0"/>
              <a:t>&gt;250 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Цель кредита – ремонт, обучение (максимум среди всех сегментов)</a:t>
            </a:r>
          </a:p>
          <a:p>
            <a:pPr>
              <a:buFontTx/>
              <a:buChar char="-"/>
            </a:pPr>
            <a:r>
              <a:rPr lang="ru-RU" dirty="0"/>
              <a:t>Открытых счетов – в среднем больше 2, высок риск просрочки (55%)</a:t>
            </a:r>
          </a:p>
          <a:p>
            <a:pPr marL="0" indent="0">
              <a:buNone/>
            </a:pPr>
            <a:r>
              <a:rPr lang="ru-RU" dirty="0"/>
              <a:t>Вывод: по статистике видно, что это женщины в разводе с небольшим опытом работы (из-за декрета, например), которые берут кредит на обустройство (ремонт) или на обучение (чтобы повысить свою квалификацию), но высок риск просрочки.</a:t>
            </a:r>
          </a:p>
          <a:p>
            <a:pPr>
              <a:buFontTx/>
              <a:buChar char="-"/>
            </a:pPr>
            <a:endParaRPr lang="ru-RU" dirty="0"/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49937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r>
              <a:rPr lang="ru-RU" b="1" dirty="0"/>
              <a:t>: сегмент 5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Рискованные заемщики в крупных компаниях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Женщина или мужчина, средний возраст – 35 лет, с небольшим стажем работы (51 </a:t>
            </a:r>
            <a:r>
              <a:rPr lang="ru-RU" dirty="0" err="1"/>
              <a:t>мес</a:t>
            </a:r>
            <a:r>
              <a:rPr lang="ru-RU" dirty="0"/>
              <a:t>)</a:t>
            </a:r>
          </a:p>
          <a:p>
            <a:pPr>
              <a:buFontTx/>
              <a:buChar char="-"/>
            </a:pPr>
            <a:r>
              <a:rPr lang="ru-RU" dirty="0"/>
              <a:t>Почти все с высшим образованием </a:t>
            </a:r>
          </a:p>
          <a:p>
            <a:pPr>
              <a:buFontTx/>
              <a:buChar char="-"/>
            </a:pPr>
            <a:r>
              <a:rPr lang="ru-RU" dirty="0"/>
              <a:t>Женат/замужем или холост (50/50)</a:t>
            </a:r>
          </a:p>
          <a:p>
            <a:pPr>
              <a:buFontTx/>
              <a:buChar char="-"/>
            </a:pPr>
            <a:r>
              <a:rPr lang="ru-RU" dirty="0"/>
              <a:t>Специалист/менеджер среднего звена (форма: ООО, сфера – торговля/другое)</a:t>
            </a:r>
          </a:p>
          <a:p>
            <a:pPr>
              <a:buFontTx/>
              <a:buChar char="-"/>
            </a:pPr>
            <a:r>
              <a:rPr lang="ru-RU" dirty="0"/>
              <a:t>Зарплата </a:t>
            </a:r>
            <a:r>
              <a:rPr lang="en-US" dirty="0"/>
              <a:t>&gt;250 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Цель кредита – ремонт</a:t>
            </a:r>
          </a:p>
          <a:p>
            <a:pPr>
              <a:buFontTx/>
              <a:buChar char="-"/>
            </a:pPr>
            <a:r>
              <a:rPr lang="ru-RU" dirty="0"/>
              <a:t>Открытых счетов – в среднем больше 2, 100% просрочка кредита</a:t>
            </a:r>
          </a:p>
          <a:p>
            <a:pPr marL="0" indent="0">
              <a:buNone/>
            </a:pPr>
            <a:r>
              <a:rPr lang="ru-RU" dirty="0"/>
              <a:t>Вывод: с одной стороны высокий заработок, а с другой – высокий риск просрочки. Это также может сигнализировать о неверной кластеризации или о природе данных, поэтому был сделан вывод, что это не очень финансово грамотные заемщики из больших компаний. Вероятно, они плохо распределяют свои денежные средства.</a:t>
            </a:r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24040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r>
              <a:rPr lang="ru-RU" b="1" dirty="0"/>
              <a:t>: сегмент 6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Молодые независимые карьеристки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Вероятнее всего женщина, средний возраст – 32 лет, с небольшим стажем работы (42 </a:t>
            </a:r>
            <a:r>
              <a:rPr lang="ru-RU" dirty="0" err="1"/>
              <a:t>мес</a:t>
            </a:r>
            <a:r>
              <a:rPr lang="ru-RU" dirty="0"/>
              <a:t> – минимум среди всех)</a:t>
            </a:r>
          </a:p>
          <a:p>
            <a:pPr>
              <a:buFontTx/>
              <a:buChar char="-"/>
            </a:pPr>
            <a:r>
              <a:rPr lang="ru-RU" dirty="0"/>
              <a:t>Почти все с высшим образованием </a:t>
            </a:r>
          </a:p>
          <a:p>
            <a:pPr>
              <a:buFontTx/>
              <a:buChar char="-"/>
            </a:pPr>
            <a:r>
              <a:rPr lang="ru-RU" dirty="0"/>
              <a:t>Не замужем</a:t>
            </a:r>
          </a:p>
          <a:p>
            <a:pPr>
              <a:buFontTx/>
              <a:buChar char="-"/>
            </a:pPr>
            <a:r>
              <a:rPr lang="ru-RU" dirty="0"/>
              <a:t>Специалист (форма: ООО, сфера – торговля/другое)</a:t>
            </a:r>
          </a:p>
          <a:p>
            <a:pPr>
              <a:buFontTx/>
              <a:buChar char="-"/>
            </a:pPr>
            <a:r>
              <a:rPr lang="ru-RU" dirty="0"/>
              <a:t>Зарплата </a:t>
            </a:r>
            <a:r>
              <a:rPr lang="en-US" dirty="0"/>
              <a:t>&gt;250 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Цель кредита – ремонт/покупка авто</a:t>
            </a:r>
          </a:p>
          <a:p>
            <a:pPr>
              <a:buFontTx/>
              <a:buChar char="-"/>
            </a:pPr>
            <a:r>
              <a:rPr lang="ru-RU" dirty="0"/>
              <a:t>Открытых счетов – в среднем меньше 2, наименее вероятна просрочка кредита</a:t>
            </a:r>
          </a:p>
          <a:p>
            <a:pPr marL="0" indent="0">
              <a:buNone/>
            </a:pPr>
            <a:r>
              <a:rPr lang="ru-RU" dirty="0"/>
              <a:t>Вывод: молодые женщины, строящие карьеру, не состоящие в браке, наиболее </a:t>
            </a:r>
            <a:r>
              <a:rPr lang="ru-RU" dirty="0" err="1"/>
              <a:t>ответсвенные</a:t>
            </a:r>
            <a:r>
              <a:rPr lang="ru-RU" dirty="0"/>
              <a:t> (минимальный риск </a:t>
            </a:r>
            <a:r>
              <a:rPr lang="ru-RU" dirty="0" err="1"/>
              <a:t>просрока</a:t>
            </a:r>
            <a:r>
              <a:rPr lang="ru-RU" dirty="0"/>
              <a:t> кредита)</a:t>
            </a:r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3967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K-means</a:t>
            </a:r>
            <a:r>
              <a:rPr lang="ru-RU" b="1" dirty="0"/>
              <a:t>: сегмент 7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Семейные профессионалы с планами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Вероятнее всего мужчина, средний возраст – 36 лет, с стажем работы 56 </a:t>
            </a:r>
            <a:r>
              <a:rPr lang="ru-RU" dirty="0" err="1"/>
              <a:t>мес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Почти все с высшим образованием, есть со средним спец</a:t>
            </a:r>
          </a:p>
          <a:p>
            <a:pPr>
              <a:buFontTx/>
              <a:buChar char="-"/>
            </a:pPr>
            <a:r>
              <a:rPr lang="ru-RU" dirty="0"/>
              <a:t>Женат</a:t>
            </a:r>
          </a:p>
          <a:p>
            <a:pPr>
              <a:buFontTx/>
              <a:buChar char="-"/>
            </a:pPr>
            <a:r>
              <a:rPr lang="ru-RU" dirty="0"/>
              <a:t>Специалист/менеджер среднего звена (форма: ООО, сфера – торговля/другое)</a:t>
            </a:r>
          </a:p>
          <a:p>
            <a:pPr>
              <a:buFontTx/>
              <a:buChar char="-"/>
            </a:pPr>
            <a:r>
              <a:rPr lang="ru-RU" dirty="0"/>
              <a:t>Зарплата </a:t>
            </a:r>
            <a:r>
              <a:rPr lang="en-US" dirty="0"/>
              <a:t>&gt;250 </a:t>
            </a:r>
            <a:endParaRPr lang="ru-RU" dirty="0"/>
          </a:p>
          <a:p>
            <a:pPr>
              <a:buFontTx/>
              <a:buChar char="-"/>
            </a:pPr>
            <a:r>
              <a:rPr lang="ru-RU" dirty="0"/>
              <a:t>Цель кредита – ремонт/покупка авто/недвижимости</a:t>
            </a:r>
          </a:p>
          <a:p>
            <a:pPr>
              <a:buFontTx/>
              <a:buChar char="-"/>
            </a:pPr>
            <a:r>
              <a:rPr lang="ru-RU" dirty="0"/>
              <a:t>Открытых счетов – в среднем 2</a:t>
            </a:r>
          </a:p>
          <a:p>
            <a:pPr marL="0" indent="0">
              <a:buNone/>
            </a:pPr>
            <a:r>
              <a:rPr lang="ru-RU" dirty="0"/>
              <a:t>Вывод: В основном это мужчины, со средним стажем работы, женатые, с высоким доходом</a:t>
            </a:r>
          </a:p>
          <a:p>
            <a:pPr marL="0" indent="0">
              <a:buNone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  <a:p>
            <a:pPr>
              <a:buFontTx/>
              <a:buChar char="-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3848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D4C68-537B-4476-B585-5919286E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5ABDED-F571-407B-9B9D-160D6DB6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>
                <a:solidFill>
                  <a:srgbClr val="0F1115"/>
                </a:solidFill>
              </a:rPr>
              <a:t>По графику распределения среди кластеров видно, что распределение неравномерное, скорее всего выбрано большое кол-во кластеров и стоило выбрать меньшее разбиение (например, 3). </a:t>
            </a:r>
          </a:p>
          <a:p>
            <a:pPr marL="0" indent="0">
              <a:buNone/>
            </a:pPr>
            <a:r>
              <a:rPr lang="ru-RU" dirty="0">
                <a:solidFill>
                  <a:srgbClr val="0F1115"/>
                </a:solidFill>
              </a:rPr>
              <a:t>Также после анализа сегментов выявлены некоторые противоречия (например, для сегмента 1). </a:t>
            </a:r>
          </a:p>
          <a:p>
            <a:pPr marL="0" indent="0">
              <a:buNone/>
            </a:pPr>
            <a:r>
              <a:rPr lang="ru-RU" dirty="0">
                <a:solidFill>
                  <a:srgbClr val="0F1115"/>
                </a:solidFill>
              </a:rPr>
              <a:t>На качество кластеризации могли повлиять и другие факторы:</a:t>
            </a:r>
          </a:p>
          <a:p>
            <a:pPr>
              <a:buFontTx/>
              <a:buChar char="-"/>
            </a:pPr>
            <a:r>
              <a:rPr lang="ru-RU" dirty="0">
                <a:solidFill>
                  <a:srgbClr val="0F1115"/>
                </a:solidFill>
              </a:rPr>
              <a:t>Маленький объем данных</a:t>
            </a:r>
          </a:p>
          <a:p>
            <a:pPr>
              <a:buFontTx/>
              <a:buChar char="-"/>
            </a:pPr>
            <a:r>
              <a:rPr lang="ru-RU" dirty="0">
                <a:solidFill>
                  <a:srgbClr val="0F1115"/>
                </a:solidFill>
              </a:rPr>
              <a:t>Удаление более 60% пропусков</a:t>
            </a:r>
          </a:p>
          <a:p>
            <a:pPr>
              <a:buFontTx/>
              <a:buChar char="-"/>
            </a:pPr>
            <a:r>
              <a:rPr lang="ru-RU" dirty="0">
                <a:solidFill>
                  <a:srgbClr val="0F1115"/>
                </a:solidFill>
              </a:rPr>
              <a:t>Последствия удаление пропусков: осталось только два типа зарплаты</a:t>
            </a:r>
          </a:p>
          <a:p>
            <a:pPr>
              <a:buFontTx/>
              <a:buChar char="-"/>
            </a:pPr>
            <a:r>
              <a:rPr lang="ru-RU" dirty="0">
                <a:solidFill>
                  <a:srgbClr val="0F1115"/>
                </a:solidFill>
              </a:rPr>
              <a:t>Дисбаланс классов </a:t>
            </a:r>
          </a:p>
          <a:p>
            <a:pPr>
              <a:buFontTx/>
              <a:buChar char="-"/>
            </a:pPr>
            <a:r>
              <a:rPr lang="ru-RU" dirty="0">
                <a:solidFill>
                  <a:srgbClr val="0F1115"/>
                </a:solidFill>
              </a:rPr>
              <a:t>Неправильное удаление признаков при анализе корреляций</a:t>
            </a:r>
          </a:p>
        </p:txBody>
      </p:sp>
    </p:spTree>
    <p:extLst>
      <p:ext uri="{BB962C8B-B14F-4D97-AF65-F5344CB8AC3E}">
        <p14:creationId xmlns:p14="http://schemas.microsoft.com/office/powerpoint/2010/main" val="3547635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F5A383-135F-4551-B396-2B24A3828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RFM </a:t>
            </a:r>
            <a:r>
              <a:rPr lang="ru-RU" b="1" dirty="0"/>
              <a:t>сегменты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58ABDB-07EA-4E8A-8178-3F1B2745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540" y="3703319"/>
            <a:ext cx="10462260" cy="247364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Далее опишем подробнее каждый из сегментов</a:t>
            </a:r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EF88D51E-965E-4463-859F-8CF94DF29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7479"/>
            <a:ext cx="10297962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9882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2F9CB-43E4-4E31-855A-DA42EE3B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VIP</a:t>
            </a:r>
            <a:endParaRPr lang="ru-R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E89C0-94AC-4D31-B183-2DF6A8E19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3420" y="1753913"/>
            <a:ext cx="10332720" cy="44947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Максимальная ценность и активность, но с высоким риском.</a:t>
            </a:r>
            <a:endParaRPr lang="en-US" altLang="ru-RU" sz="2000" b="1" dirty="0"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Преимущественно мужчины (~54%), средний возраст 37 лет, большинство женаты (65%).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Самый высокий процент менеджеров высшего звена (16%) и специалистов (30%). Работают в крупных компаниях (&gt;250 чел. — 77%) в форме ООО (73%), в сфере торговли (58%).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Высокая вероятность кредитов с залогом (49% — максимум). Самый высокий показатель открытых счетов (в среднем 4.2!) и закрытых (7.0). Чрезвычайно высокая активность, но при этом </a:t>
            </a: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наибольшая вероятность просрочки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(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effectLst/>
                <a:cs typeface="Arial" panose="020B0604020202020204" pitchFamily="34" charset="0"/>
              </a:rPr>
              <a:t>dlq_exist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=0.79, max60days=1.64).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Берут кредиты в основном на ремонт (67%) и покупку автомобиля (12%). Получают зарплату на счет (30%) и по форме банка (40%). Часто имеют активные кредитные карты (91%).</a:t>
            </a:r>
            <a:endParaRPr kumimoji="0" lang="en-US" altLang="ru-RU" sz="20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2000" b="1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"Ключевые, но рискованные партнеры"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effectLst/>
                <a:cs typeface="Arial" panose="020B0604020202020204" pitchFamily="34" charset="0"/>
              </a:rPr>
              <a:t> — это самые ценные по обороту клиенты (берут много и часто), но их лояльность условна из-за высоких просрочек. Возможно, активно используют кредиты для бизнеса или инвестиций.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0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863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2F9CB-43E4-4E31-855A-DA42EE3B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2</a:t>
            </a:r>
            <a:r>
              <a:rPr lang="en-US" dirty="0"/>
              <a:t>. </a:t>
            </a:r>
            <a:r>
              <a:rPr lang="ru-RU" dirty="0"/>
              <a:t>Лояльные клиенты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E89C0-94AC-4D31-B183-2DF6A8E19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9356"/>
            <a:ext cx="10332720" cy="40638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Стабильная и предсказуемая ценность.</a:t>
            </a:r>
            <a:endParaRPr lang="ru-RU" altLang="ru-RU" sz="1800" dirty="0">
              <a:solidFill>
                <a:srgbClr val="0F1115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Сбалансирован по полу, средний возраст ~36 лет. Большинство женаты (62%), значительная часть холосты (31%).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Специалисты и менеджеры среднего звена (суммарно ~60%). Работают в крупных компаниях (&gt;250 чел. — 77%), в ООО (71%), в торговле (62%).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Умеренная вероятность залога (35%). Кредитная активность ниже, чем у VIP (2.8 открытых счета), но стабильная. Риск просрочек высокий, но ниже, чем у VIP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dlq_exist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=0.64).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Классические цели — ремонт (60%), авто (15%), недвижимость (11%). Подтверждение дохода: 2НДФЛ (28%) и зарплата на счет (31%).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"Ядро клиентской базы"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 — надежные, предсказуемые заемщики, которые приносят стабильный доход. Основная масса лояльных клиентов банка.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800" dirty="0">
                <a:cs typeface="Arial" panose="020B0604020202020204" pitchFamily="34" charset="0"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9225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2F9CB-43E4-4E31-855A-DA42EE3B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</a:t>
            </a:r>
            <a:r>
              <a:rPr lang="en-US" dirty="0"/>
              <a:t>. </a:t>
            </a:r>
            <a:r>
              <a:rPr lang="ru-RU" dirty="0"/>
              <a:t>Высокоценные клиенты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E89C0-94AC-4D31-B183-2DF6A8E19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07856"/>
            <a:ext cx="10332720" cy="37868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Зрелые клиенты с высокой долей залога и семьями.</a:t>
            </a:r>
            <a:endParaRPr lang="ru-RU" altLang="ru-RU" sz="1800" dirty="0">
              <a:solidFill>
                <a:srgbClr val="0F1115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Небольшой перевес мужчин (56%), самый старший средний возраст (38 лет). Самый высокий процент женатых (67%) и самый высокий средний показатель количества взрослых детей (0.64).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Высокий процент менеджеров высшего звена (17%) и специалистов (31%). Работают в крупных компаниях (70%).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Вторая доля залога (42%). Среднее количество счетов — 2.2 открытых. Высокий риск просрочек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dlq_exist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=0.74).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Чаще берут кредиты на недвижимость/строительство (15% — максимум среди сегментов). Также на ремонт (58%). Подтверждают доход чаще формой банка (43%).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"Семейные инвесторы в недвижимость"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 — зрелые клиенты с семьями, берущие крупные целевые кредиты (часто под залог) на улучшение жилищных условий.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FE49A93-802D-47A2-9732-2AA9C384B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1444"/>
            <a:ext cx="65" cy="462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171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2F9CB-43E4-4E31-855A-DA42EE3B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4</a:t>
            </a:r>
            <a:r>
              <a:rPr lang="en-US" dirty="0"/>
              <a:t>. </a:t>
            </a:r>
            <a:r>
              <a:rPr lang="ru-RU" dirty="0"/>
              <a:t>Потенциальные клиенты/новички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E89C0-94AC-4D31-B183-2DF6A8E19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0857"/>
            <a:ext cx="10332720" cy="43408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Молодые клиенты с высоким потенциалом роста лояльности.</a:t>
            </a:r>
            <a:endParaRPr lang="ru-RU" altLang="ru-RU" sz="1800" dirty="0">
              <a:solidFill>
                <a:srgbClr val="0F1115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Преимущественно женщины (55%), самые молодые (средний возраст 33 года). Самый высокий процент холостых/незамужних (38%). Маленький стаж на текущем месте работы (38 мес. — минимум).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Специалисты (41%) и вспомогательный персонал (21%). Работают в крупных компаниях (78%).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Крайне низкая доля залога (18% — почти в 3 раза меньше, чем у VIP). Мало кредитной истории (1.7 открытых счета, 1.0 закрытых).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Самый низкий риск просрочек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 среди платящих сегментов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dlq_exist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=0.31).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Кредиты на классические цели (ремонт 62%, авто 16%). Ключевое отличие —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самый высокий процент подтверждения дохода через поступление зарплаты на счет (50%)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, что говорит о "белой" зарплате и официальном трудоустройстве.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"Перспективная молодежь на старте карьеры"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 —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низкорисковые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 клиенты с прозрачными доходами, которые только начинают свой путь в банке. Идеальная аудитория для развития отношений.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132091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2F9CB-43E4-4E31-855A-DA42EE3B1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5</a:t>
            </a:r>
            <a:r>
              <a:rPr lang="en-US" dirty="0"/>
              <a:t>. </a:t>
            </a:r>
            <a:r>
              <a:rPr lang="ru-RU" dirty="0"/>
              <a:t>Риск оттока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FE89C0-94AC-4D31-B183-2DF6A8E198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7240" y="1690688"/>
            <a:ext cx="10332720" cy="406387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Низкая активность, слабая вовлеченность, высокий потенциал ухода.</a:t>
            </a:r>
            <a:endParaRPr lang="ru-RU" altLang="ru-RU" sz="1800" dirty="0">
              <a:solidFill>
                <a:srgbClr val="0F1115"/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Сбалансирован по полу, средний возраст 35 лет. Смешанный семейный статус.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Специалисты (38%) и вспомогательный персонал (20%). Работают в крупных компаниях (75%).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Минимальная активность.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Самое низкое количество открытых счетов (1.05)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, мало закрытых счетов (1.5). Низкая доля залога (21%). Риск просрочек умеренный, но выше, чем у "Потенциальных"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dlq_exist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=0.40).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Самый долгий минимальный срок после последнего кредита (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</a:rPr>
              <a:t>min_MnthAfterLoan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=23.4), то есть они давно ничего не брали. Цели кредитов стандартные. Подтверждение дохода: зарплата на счет (42%) и 2НДФЛ (24%).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"Пассивные или уходящие клиенты"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 — либо взяли один кредит и больше не возвращаются, либо постепенно сокращают активность. Причина может быть в неудовлетворенности сервисом, переходе к конкуренту или изменении жизненных обстоятельств. Требуют реактивации.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0A7F496-2D2A-46B6-B525-16C5F1EFA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1444"/>
            <a:ext cx="65" cy="46288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92046" rIns="0" bIns="9204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7812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D4C68-537B-4476-B585-5919286E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5ABDED-F571-407B-9B9D-160D6DB6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F1115"/>
                </a:solidFill>
                <a:effectLst/>
              </a:rPr>
              <a:t>RFM</a:t>
            </a:r>
            <a:r>
              <a:rPr lang="ru-RU" b="0" dirty="0">
                <a:solidFill>
                  <a:srgbClr val="0F1115"/>
                </a:solidFill>
                <a:effectLst/>
              </a:rPr>
              <a:t> сегментация </a:t>
            </a:r>
            <a:r>
              <a:rPr lang="ru-RU" b="1" dirty="0">
                <a:solidFill>
                  <a:srgbClr val="0F1115"/>
                </a:solidFill>
                <a:effectLst/>
              </a:rPr>
              <a:t>более четкая и логичная для бизнеса</a:t>
            </a:r>
            <a:r>
              <a:rPr lang="ru-RU" b="0" dirty="0">
                <a:solidFill>
                  <a:srgbClr val="0F1115"/>
                </a:solidFill>
                <a:effectLst/>
              </a:rPr>
              <a:t>, чем предыдущая (</a:t>
            </a:r>
            <a:r>
              <a:rPr lang="en-US" b="0" dirty="0">
                <a:solidFill>
                  <a:srgbClr val="0F1115"/>
                </a:solidFill>
                <a:effectLst/>
              </a:rPr>
              <a:t>K-means</a:t>
            </a:r>
            <a:r>
              <a:rPr lang="ru-RU" b="0" dirty="0">
                <a:solidFill>
                  <a:srgbClr val="0F1115"/>
                </a:solidFill>
                <a:effectLst/>
              </a:rPr>
              <a:t>). Она сразу делит базу по ключевым бизнес-метрикам: </a:t>
            </a:r>
            <a:r>
              <a:rPr lang="ru-RU" b="1" dirty="0">
                <a:solidFill>
                  <a:srgbClr val="0F1115"/>
                </a:solidFill>
                <a:effectLst/>
              </a:rPr>
              <a:t>ценность (R), частота (F), давность (M)</a:t>
            </a:r>
            <a:r>
              <a:rPr lang="ru-RU" b="0" dirty="0">
                <a:solidFill>
                  <a:srgbClr val="0F1115"/>
                </a:solidFill>
                <a:effectLst/>
              </a:rPr>
              <a:t>. Каждый сегмент имеет очевидную стратегию работы: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effectLst/>
              </a:rPr>
              <a:t>VIP:</a:t>
            </a:r>
            <a:r>
              <a:rPr lang="ru-RU" b="0" dirty="0">
                <a:solidFill>
                  <a:srgbClr val="0F1115"/>
                </a:solidFill>
                <a:effectLst/>
              </a:rPr>
              <a:t> Удержание и управление риском.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effectLst/>
              </a:rPr>
              <a:t>Лояльные:</a:t>
            </a:r>
            <a:r>
              <a:rPr lang="ru-RU" b="0" dirty="0">
                <a:solidFill>
                  <a:srgbClr val="0F1115"/>
                </a:solidFill>
                <a:effectLst/>
              </a:rPr>
              <a:t> Стандартное обслуживание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effectLst/>
              </a:rPr>
              <a:t>Высокоценные:</a:t>
            </a:r>
            <a:r>
              <a:rPr lang="ru-RU" b="0" dirty="0">
                <a:solidFill>
                  <a:srgbClr val="0F1115"/>
                </a:solidFill>
                <a:effectLst/>
              </a:rPr>
              <a:t> Предложение продуктов под залог (ипотека, автокредиты)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effectLst/>
              </a:rPr>
              <a:t>Потенциальные:</a:t>
            </a:r>
            <a:r>
              <a:rPr lang="ru-RU" b="0" dirty="0">
                <a:solidFill>
                  <a:srgbClr val="0F1115"/>
                </a:solidFill>
                <a:effectLst/>
              </a:rPr>
              <a:t> Активное развитие, предложение карт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rgbClr val="0F1115"/>
                </a:solidFill>
                <a:effectLst/>
              </a:rPr>
              <a:t>Риск оттока:</a:t>
            </a:r>
            <a:r>
              <a:rPr lang="ru-RU" b="0" dirty="0">
                <a:solidFill>
                  <a:srgbClr val="0F1115"/>
                </a:solidFill>
                <a:effectLst/>
              </a:rPr>
              <a:t> Программы реактивации, опросы для выяснения причин ухода</a:t>
            </a:r>
            <a:br>
              <a:rPr lang="ru-RU" dirty="0">
                <a:solidFill>
                  <a:srgbClr val="81858C"/>
                </a:solidFill>
                <a:effectLst/>
              </a:rPr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0909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3761</Words>
  <Application>Microsoft Office PowerPoint</Application>
  <PresentationFormat>Широкоэкранный</PresentationFormat>
  <Paragraphs>460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2" baseType="lpstr">
      <vt:lpstr>-apple-system</vt:lpstr>
      <vt:lpstr>Arial</vt:lpstr>
      <vt:lpstr>Calibri</vt:lpstr>
      <vt:lpstr>Calibri Light</vt:lpstr>
      <vt:lpstr>Google Sans Text</vt:lpstr>
      <vt:lpstr>Menlo</vt:lpstr>
      <vt:lpstr>quote-cjk-patch</vt:lpstr>
      <vt:lpstr>Тема Office</vt:lpstr>
      <vt:lpstr>Домашнее задание №1 </vt:lpstr>
      <vt:lpstr>Задачи</vt:lpstr>
      <vt:lpstr>Задача 1: Исследование и обработка данных</vt:lpstr>
      <vt:lpstr>Данные</vt:lpstr>
      <vt:lpstr>Исследование данных на пропущенные значения</vt:lpstr>
      <vt:lpstr>Презентация PowerPoint</vt:lpstr>
      <vt:lpstr>Чистка данных</vt:lpstr>
      <vt:lpstr>Распределение категориальных признаков</vt:lpstr>
      <vt:lpstr>Распределение категориальных признаков</vt:lpstr>
      <vt:lpstr>Распределение категориальных признаков</vt:lpstr>
      <vt:lpstr>Распределение количественных признаков</vt:lpstr>
      <vt:lpstr>Распределение количественных признаков</vt:lpstr>
      <vt:lpstr>Распределение количественных признаков</vt:lpstr>
      <vt:lpstr>Распределение количественных признаков</vt:lpstr>
      <vt:lpstr>Матрица корреляций для количественных признаков</vt:lpstr>
      <vt:lpstr>Матрица корреляций для количественных + категориальных признаков</vt:lpstr>
      <vt:lpstr>Итоговая витрина</vt:lpstr>
      <vt:lpstr>Подготовка данных для сегментации</vt:lpstr>
      <vt:lpstr>Задача 2-3: Сегментация и оценка</vt:lpstr>
      <vt:lpstr>K-means – выбор кол-ва кластеров</vt:lpstr>
      <vt:lpstr>K-means – выбор кол-ва кластеров</vt:lpstr>
      <vt:lpstr>K-means</vt:lpstr>
      <vt:lpstr>RFM сегментация</vt:lpstr>
      <vt:lpstr>RFM сегментация</vt:lpstr>
      <vt:lpstr>RFM сегментация: распределение</vt:lpstr>
      <vt:lpstr>RFM сегментация</vt:lpstr>
      <vt:lpstr>RFM сегменты</vt:lpstr>
      <vt:lpstr>Задача 4: Профили клиентов</vt:lpstr>
      <vt:lpstr>K-means</vt:lpstr>
      <vt:lpstr>K-means: сегмент 1</vt:lpstr>
      <vt:lpstr>K-means: сегмент 2</vt:lpstr>
      <vt:lpstr>K-means: сегмент 3</vt:lpstr>
      <vt:lpstr>K-means: сегмент 4</vt:lpstr>
      <vt:lpstr>K-means: сегмент 5</vt:lpstr>
      <vt:lpstr>K-means: сегмент 6</vt:lpstr>
      <vt:lpstr>K-means: сегмент 7</vt:lpstr>
      <vt:lpstr>Выводы</vt:lpstr>
      <vt:lpstr>RFM сегменты</vt:lpstr>
      <vt:lpstr>1. VIP</vt:lpstr>
      <vt:lpstr>2. Лояльные клиенты</vt:lpstr>
      <vt:lpstr>3. Высокоценные клиенты</vt:lpstr>
      <vt:lpstr>4. Потенциальные клиенты/новички</vt:lpstr>
      <vt:lpstr>5. Риск оттока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Домашнее задание №1</dc:title>
  <dc:creator>Kachalina Ekaterina Aleksandrovna</dc:creator>
  <cp:lastModifiedBy>Kachalina Ekaterina Aleksandrovna</cp:lastModifiedBy>
  <cp:revision>33</cp:revision>
  <dcterms:created xsi:type="dcterms:W3CDTF">2025-12-30T14:37:23Z</dcterms:created>
  <dcterms:modified xsi:type="dcterms:W3CDTF">2025-12-31T11:30:21Z</dcterms:modified>
</cp:coreProperties>
</file>